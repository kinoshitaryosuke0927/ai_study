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b094478f2e63c7b0b2423fc3fc4f25a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1143000"/>
            <a:ext cx="914400" cy="57607"/>
          </a:xfrm>
          <a:prstGeom prst="rect">
            <a:avLst/>
          </a:prstGeom>
        </p:spPr>
      </p:pic>
      <p:pic>
        <p:nvPicPr>
          <p:cNvPr id="3" name="Image 1" descr="gen-dedup-8b7335f3bea1b37908fb7dad94b59fff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143000" y="8953805"/>
            <a:ext cx="16002000" cy="91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43000" y="1524305"/>
            <a:ext cx="11430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b="1" spc="448" kern="0" dirty="0">
                <a:solidFill>
                  <a:srgbClr val="D99A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AIS INTERNAL DEVELOPMENT PROPOSAL / FY2026</a:t>
            </a:r>
            <a:endParaRPr lang="en-US" sz="1400" dirty="0"/>
          </a:p>
        </p:txBody>
      </p:sp>
      <p:sp>
        <p:nvSpPr>
          <p:cNvPr id="5" name="Text 1"/>
          <p:cNvSpPr txBox="1"/>
          <p:nvPr/>
        </p:nvSpPr>
        <p:spPr>
          <a:xfrm>
            <a:off x="1143000" y="3238805"/>
            <a:ext cx="16002000" cy="10863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0" b="1" spc="136" kern="0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多様な強みを、AI実装経験へ。</a:t>
            </a:r>
            <a:endParaRPr lang="en-US" sz="6800" dirty="0"/>
          </a:p>
        </p:txBody>
      </p:sp>
      <p:sp>
        <p:nvSpPr>
          <p:cNvPr id="6" name="Text 2"/>
          <p:cNvSpPr txBox="1"/>
          <p:nvPr/>
        </p:nvSpPr>
        <p:spPr>
          <a:xfrm>
            <a:off x="1143000" y="4375404"/>
            <a:ext cx="17124883" cy="10863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800" b="1" spc="136" kern="0" dirty="0">
                <a:solidFill>
                  <a:srgbClr val="D99A5B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2026年度 AIS自社開発活動の進め方</a:t>
            </a:r>
            <a:endParaRPr lang="en-US" sz="6800" dirty="0"/>
          </a:p>
        </p:txBody>
      </p:sp>
      <p:sp>
        <p:nvSpPr>
          <p:cNvPr id="7" name="Text 3"/>
          <p:cNvSpPr txBox="1"/>
          <p:nvPr/>
        </p:nvSpPr>
        <p:spPr>
          <a:xfrm>
            <a:off x="1143000" y="6788506"/>
            <a:ext cx="16002000" cy="1022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40"/>
              </a:lnSpc>
              <a:buNone/>
            </a:pPr>
            <a:r>
              <a:rPr lang="en-US" sz="2200" dirty="0">
                <a:solidFill>
                  <a:srgbClr val="C9D3E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素体アプリを土台に、各自がAI機能を実装する半年間 —</a:t>
            </a:r>
            <a:pPr algn="l" indent="0" marL="0">
              <a:lnSpc>
                <a:spcPts val="3740"/>
              </a:lnSpc>
              <a:buNone/>
            </a:pPr>
            <a:endParaRPr lang="en-US" sz="2100" dirty="0"/>
          </a:p>
          <a:p>
            <a:pPr algn="l" indent="0" marL="0">
              <a:lnSpc>
                <a:spcPts val="3740"/>
              </a:lnSpc>
              <a:buNone/>
            </a:pPr>
            <a:r>
              <a:rPr lang="en-US" sz="2200" dirty="0">
                <a:solidFill>
                  <a:srgbClr val="C9D3E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昨年度の反省を踏まえた、進め方の再設計についてのご説明</a:t>
            </a:r>
            <a:endParaRPr lang="en-US" sz="2100" dirty="0"/>
          </a:p>
        </p:txBody>
      </p:sp>
      <p:sp>
        <p:nvSpPr>
          <p:cNvPr id="8" name="Text 4"/>
          <p:cNvSpPr txBox="1"/>
          <p:nvPr/>
        </p:nvSpPr>
        <p:spPr>
          <a:xfrm>
            <a:off x="1143000" y="9191549"/>
            <a:ext cx="7620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spc="168" kern="0" dirty="0">
                <a:solidFill>
                  <a:srgbClr val="8EA1B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上長向け説明資料 | AIS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8762695" y="9191549"/>
            <a:ext cx="8382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200" spc="168" kern="0" dirty="0">
                <a:solidFill>
                  <a:srgbClr val="8EA1B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期間: 2026年10月 — 2027年3月（半年）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73149132376c61bb4f0a4ff9af93616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914400"/>
            <a:ext cx="609905" cy="384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4572000"/>
            <a:ext cx="16040405" cy="3238805"/>
          </a:xfrm>
          <a:prstGeom prst="rect">
            <a:avLst/>
          </a:prstGeom>
          <a:solidFill>
            <a:srgbClr val="EEF2F8"/>
          </a:solidFill>
          <a:ln/>
        </p:spPr>
      </p:sp>
      <p:sp>
        <p:nvSpPr>
          <p:cNvPr id="4" name="Shape 1"/>
          <p:cNvSpPr/>
          <p:nvPr/>
        </p:nvSpPr>
        <p:spPr>
          <a:xfrm>
            <a:off x="1143000" y="4572000"/>
            <a:ext cx="38405" cy="3238805"/>
          </a:xfrm>
          <a:prstGeom prst="rect">
            <a:avLst/>
          </a:prstGeom>
          <a:solidFill>
            <a:srgbClr val="B8722E"/>
          </a:solidFill>
          <a:ln w="12700">
            <a:solidFill>
              <a:srgbClr val="B8722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143000" y="1123798"/>
            <a:ext cx="7620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308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 EXECUTIVE SUMMARY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505102"/>
            <a:ext cx="15240305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68" kern="0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提案の要旨</a:t>
            </a:r>
            <a:endParaRPr lang="en-US" sz="33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2415845"/>
            <a:ext cx="16002000" cy="889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30"/>
              </a:lnSpc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2026年10月〜2027年3月の半年間、AISメンバー全員で </a:t>
            </a:r>
            <a:pPr algn="l" indent="0" marL="0">
              <a:lnSpc>
                <a:spcPts val="323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「素体アプリに各自がAI機能を実装する」</a:t>
            </a:r>
            <a:pPr algn="l" indent="0" marL="0">
              <a:lnSpc>
                <a:spcPts val="3230"/>
              </a:lnSpc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活動を実施したい。</a:t>
            </a:r>
            <a:pPr algn="l" indent="0" marL="0">
              <a:lnSpc>
                <a:spcPts val="3230"/>
              </a:lnSpc>
              <a:buNone/>
            </a:pPr>
            <a:endParaRPr lang="en-US" sz="1800" dirty="0"/>
          </a:p>
          <a:p>
            <a:pPr algn="l" indent="0" marL="0">
              <a:lnSpc>
                <a:spcPts val="3230"/>
              </a:lnSpc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本提案の中心は、</a:t>
            </a:r>
            <a:pPr algn="l" indent="0" marL="0">
              <a:lnSpc>
                <a:spcPts val="323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1つの完成物を作ることではなく、全員がAI開発を実践的に経験できる場をつくること</a:t>
            </a:r>
            <a:pPr algn="l" indent="0" marL="0">
              <a:lnSpc>
                <a:spcPts val="3230"/>
              </a:lnSpc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にある。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4858207"/>
            <a:ext cx="2857500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8722E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01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1524305" y="5549494"/>
            <a:ext cx="2857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昨年度の反省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24305" y="5930798"/>
            <a:ext cx="28575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多様な強みを生かしきれず、最大公約数的な活動になった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667098" y="4858207"/>
            <a:ext cx="2857500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8722E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02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4667098" y="5549494"/>
            <a:ext cx="2857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今年度の思想転換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667098" y="5930798"/>
            <a:ext cx="28575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各自がAI機能を実装し、全員がAIに触れる形へ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810805" y="4858207"/>
            <a:ext cx="2857500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8722E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03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7810805" y="5549494"/>
            <a:ext cx="2857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優先順位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810805" y="5930798"/>
            <a:ext cx="285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AI実装経験の平準化を最優先に置く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0953598" y="4858207"/>
            <a:ext cx="2857500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8722E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04</a:t>
            </a:r>
            <a:endParaRPr lang="en-US" sz="4400" dirty="0"/>
          </a:p>
        </p:txBody>
      </p:sp>
      <p:sp>
        <p:nvSpPr>
          <p:cNvPr id="18" name="Text 15"/>
          <p:cNvSpPr txBox="1"/>
          <p:nvPr/>
        </p:nvSpPr>
        <p:spPr>
          <a:xfrm>
            <a:off x="10953598" y="5549494"/>
            <a:ext cx="2857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教育的トレードオフ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53598" y="5930798"/>
            <a:ext cx="2857500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スクラム再現よりAI実装の平準化を優先する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4097305" y="4858207"/>
            <a:ext cx="2857500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8722E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05</a:t>
            </a:r>
            <a:endParaRPr lang="en-US" sz="4400" dirty="0"/>
          </a:p>
        </p:txBody>
      </p:sp>
      <p:sp>
        <p:nvSpPr>
          <p:cNvPr id="21" name="Text 18"/>
          <p:cNvSpPr txBox="1"/>
          <p:nvPr/>
        </p:nvSpPr>
        <p:spPr>
          <a:xfrm>
            <a:off x="14097305" y="5549494"/>
            <a:ext cx="285750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翌年度に残る資産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4097305" y="5930798"/>
            <a:ext cx="28575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素体+AI機能+実装意図+教材群を残す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143000" y="8382305"/>
            <a:ext cx="16002000" cy="4480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「昨年度と同じ方式でもう半年」ではなく、</a:t>
            </a:r>
            <a:pPr algn="l" indent="0" marL="0">
              <a:buNone/>
            </a:pPr>
            <a:r>
              <a:rPr lang="en-US" sz="2100" b="1" dirty="0">
                <a:solidFill>
                  <a:srgbClr val="B8722E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同じ半年を、AIS全員のAI実装経験に変える提案</a:t>
            </a:r>
            <a:pPr algn="l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 です。</a:t>
            </a:r>
            <a:endParaRPr lang="en-US" sz="2100" dirty="0"/>
          </a:p>
        </p:txBody>
      </p:sp>
      <p:sp>
        <p:nvSpPr>
          <p:cNvPr id="24" name="Text 21"/>
          <p:cNvSpPr txBox="1"/>
          <p:nvPr/>
        </p:nvSpPr>
        <p:spPr>
          <a:xfrm>
            <a:off x="16916400" y="9715500"/>
            <a:ext cx="6099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A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 / 13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73149132376c61bb4f0a4ff9af93616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914400"/>
            <a:ext cx="609905" cy="384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3810305"/>
            <a:ext cx="7638898" cy="5352898"/>
          </a:xfrm>
          <a:prstGeom prst="rect">
            <a:avLst/>
          </a:prstGeom>
          <a:solidFill>
            <a:srgbClr val="FBFAF6"/>
          </a:solidFill>
          <a:ln w="12700">
            <a:solidFill>
              <a:srgbClr val="CFD6E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5305" y="3810305"/>
            <a:ext cx="7638898" cy="5381244"/>
          </a:xfrm>
          <a:prstGeom prst="rect">
            <a:avLst/>
          </a:prstGeom>
          <a:solidFill>
            <a:srgbClr val="FBFAF6"/>
          </a:solidFill>
          <a:ln w="12700">
            <a:solidFill>
              <a:srgbClr val="CFD6E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25305" y="3810305"/>
            <a:ext cx="7638898" cy="38405"/>
          </a:xfrm>
          <a:prstGeom prst="rect">
            <a:avLst/>
          </a:prstGeom>
          <a:solidFill>
            <a:srgbClr val="8A3B3B"/>
          </a:solidFill>
          <a:ln w="12700">
            <a:solidFill>
              <a:srgbClr val="8A3B3B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43000" y="1123798"/>
            <a:ext cx="7620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308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 LAST YEAR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505102"/>
            <a:ext cx="15240305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68" kern="0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昨年度の成果と、そこから見えた構造的課題</a:t>
            </a:r>
            <a:endParaRPr lang="en-US" sz="33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2476195"/>
            <a:ext cx="1600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2025年10月〜2026年3月、生成AIを使ったアプリを全員で1本仕上げた。</a:t>
            </a:r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リリースは達成した一方で、進め方には構造的な課題が残った。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429207" y="4000500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88" kern="0" dirty="0">
                <a:solidFill>
                  <a:srgbClr val="4D6B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ACHIEVEMENTS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429207" y="4324198"/>
            <a:ext cx="3810305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得られた成果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1429207" y="4953305"/>
            <a:ext cx="7049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D6B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pPr algn="l" indent="0" marL="0">
              <a:buNone/>
            </a:pPr>
            <a:r>
              <a:rPr lang="en-US" sz="15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アプリ1本を予定通りリリース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429207" y="5510174"/>
            <a:ext cx="7049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D6B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pPr algn="l" indent="0" marL="0">
              <a:buNone/>
            </a:pPr>
            <a:r>
              <a:rPr lang="en-US" sz="15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生成AIを組み込む開発フローを一度通せた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429207" y="6067958"/>
            <a:ext cx="7049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D6B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pPr algn="l" indent="0" marL="0">
              <a:buNone/>
            </a:pPr>
            <a:r>
              <a:rPr lang="en-US" sz="15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メンバー間で </a:t>
            </a:r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「異なる視点・技術背景」</a:t>
            </a:r>
            <a:pPr algn="l" indent="0" marL="0">
              <a:buNone/>
            </a:pPr>
            <a:r>
              <a:rPr lang="en-US" sz="15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があることが可視化された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429207" y="6625742"/>
            <a:ext cx="7049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D6B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✓</a:t>
            </a:r>
            <a:pPr algn="l" indent="0" marL="0">
              <a:buNone/>
            </a:pPr>
            <a:r>
              <a:rPr lang="en-US" sz="15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チームで動く経験そのものは全員が積めた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810598" y="4000500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88" kern="0" dirty="0">
                <a:solidFill>
                  <a:srgbClr val="8A3B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STRUCTURAL ISSUES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810598" y="4324198"/>
            <a:ext cx="5715000" cy="476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見えた構造的な課題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810598" y="4953305"/>
            <a:ext cx="70491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開発時間の制約</a:t>
            </a:r>
            <a:pPr algn="l" indent="0" marL="0">
              <a:buNone/>
            </a:pPr>
            <a:r>
              <a:rPr lang="en-US" sz="15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— 1人あたり月8〜10時間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810598" y="5419649"/>
            <a:ext cx="70491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完成優先の専任化</a:t>
            </a:r>
            <a:pPr algn="l" indent="0" marL="0">
              <a:buNone/>
            </a:pPr>
            <a:r>
              <a:rPr lang="en-US" sz="15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— 期日に合わせて役割固定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9810598" y="5886907"/>
            <a:ext cx="70491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AI担当の偏り</a:t>
            </a:r>
            <a:pPr algn="l" indent="0" marL="0">
              <a:buNone/>
            </a:pPr>
            <a:r>
              <a:rPr lang="en-US" sz="15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— 深く触れられるメンバーが一部に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810598" y="6353251"/>
            <a:ext cx="70491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持ち味の埋没</a:t>
            </a:r>
            <a:pPr algn="l" indent="0" marL="0">
              <a:buNone/>
            </a:pPr>
            <a:r>
              <a:rPr lang="en-US" sz="15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— 1本にまとめる制約が独自性を消す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810598" y="6819595"/>
            <a:ext cx="704911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多様性が調整コスト化</a:t>
            </a:r>
            <a:pPr algn="l" indent="0" marL="0">
              <a:buNone/>
            </a:pPr>
            <a:r>
              <a:rPr lang="en-US" sz="15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— 強みが強みとして機能しなかった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" y="9430207"/>
            <a:ext cx="15240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→ 昨年度の方式は「1本を完成させる」には適していたが、</a:t>
            </a:r>
            <a:pPr algn="l" indent="0" marL="0">
              <a:buNone/>
            </a:pPr>
            <a:r>
              <a:rPr lang="en-US" sz="1800" b="1" dirty="0">
                <a:solidFill>
                  <a:srgbClr val="B8722E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「全員でAIを学ぶ」には最適ではなかった。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16916400" y="10001707"/>
            <a:ext cx="6099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A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 / 13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73149132376c61bb4f0a4ff9af93616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914400"/>
            <a:ext cx="609905" cy="384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3619195"/>
            <a:ext cx="7810805" cy="5524805"/>
          </a:xfrm>
          <a:prstGeom prst="rect">
            <a:avLst/>
          </a:prstGeom>
          <a:solidFill>
            <a:srgbClr val="F2EDE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334195" y="3619195"/>
            <a:ext cx="7810805" cy="5524805"/>
          </a:xfrm>
          <a:prstGeom prst="rect">
            <a:avLst/>
          </a:prstGeom>
          <a:solidFill>
            <a:srgbClr val="0F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rot="2700000">
            <a:off x="9001354" y="6096305"/>
            <a:ext cx="286207" cy="286207"/>
          </a:xfrm>
          <a:prstGeom prst="rect">
            <a:avLst/>
          </a:prstGeom>
          <a:solidFill>
            <a:srgbClr val="B872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953805" y="6172200"/>
            <a:ext cx="381305" cy="133502"/>
          </a:xfrm>
          <a:prstGeom prst="rect">
            <a:avLst/>
          </a:prstGeom>
          <a:solidFill>
            <a:srgbClr val="B872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1123798"/>
            <a:ext cx="7620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308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 THE SHIFT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505102"/>
            <a:ext cx="15240305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68" kern="0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昨年度方式 vs 今年度方式</a:t>
            </a:r>
            <a:endParaRPr lang="en-US" sz="33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2476195"/>
            <a:ext cx="1600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成果物の作り方を、</a:t>
            </a:r>
            <a:pPr algn="l"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「全員で1本を完成させる」</a:t>
            </a:r>
            <a:pPr algn="l" indent="0" marL="0"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から </a:t>
            </a:r>
            <a:pPr algn="l" indent="0" marL="0">
              <a:buNone/>
            </a:pPr>
            <a:r>
              <a:rPr lang="en-US" sz="1800" b="1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「各自がAI機能を1つずつ作る」</a:t>
            </a:r>
            <a:pPr algn="l" indent="0" marL="0"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に切り替える。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29207" y="3857854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88" kern="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FY2025 — 昨年度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429207" y="4162349"/>
            <a:ext cx="5715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F3A52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1つの完成物に、全員を合わせる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429207" y="4762195"/>
          <a:ext cx="7239305" cy="3248863"/>
        </p:xfrm>
        <a:graphic>
          <a:graphicData uri="http://schemas.openxmlformats.org/drawingml/2006/table">
            <a:tbl>
              <a:tblPr/>
              <a:tblGrid>
                <a:gridCol w="1238098"/>
                <a:gridCol w="6001207"/>
              </a:tblGrid>
              <a:tr h="541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目的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F3A5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1本のアプリを期日に完成させる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単位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F3A5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チーム1つ / 成果物1つ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役割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F3A5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FE / BE / AI に事実上固定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AI経験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F3A5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一部メンバーに集中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多様性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F3A5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調整コストになりやすい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478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残るもの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F3A5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完成アプリ 1本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9620402" y="3857854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88" kern="0" dirty="0">
                <a:solidFill>
                  <a:srgbClr val="D99A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FY2026 — 今年度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9620402" y="4162349"/>
            <a:ext cx="5715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素体に、各自がAI機能を積む</a:t>
            </a:r>
            <a:endParaRPr lang="en-US" sz="24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20402" y="4762195"/>
          <a:ext cx="7239305" cy="3248863"/>
        </p:xfrm>
        <a:graphic>
          <a:graphicData uri="http://schemas.openxmlformats.org/drawingml/2006/table">
            <a:tbl>
              <a:tblPr/>
              <a:tblGrid>
                <a:gridCol w="1238098"/>
                <a:gridCol w="6001207"/>
              </a:tblGrid>
              <a:tr h="541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9A5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目的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FE6F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全員がAI実装を経験する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9A5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単位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FE6F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個人 × AI機能 1つ / 月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9A5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役割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FE6F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各自がテーマを選ぶ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9A5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AI経験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全員が実装を経験する（平準化）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9A5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多様性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FE6F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発想力そのものを学習資源に変える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14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D99A5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残るもの</a:t>
                      </a:r>
                      <a:endParaRPr lang="en-US" sz="12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t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FE6F0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素体 + AI機能群 + 教材群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0" marR="0" marT="114300" marB="114300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1143000" y="9430207"/>
            <a:ext cx="15240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同じ半年・同じ工数でも、</a:t>
            </a:r>
            <a:pPr algn="l"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AISに残る「経験の量」と「教材の量」を最大化する</a:t>
            </a:r>
            <a:pPr algn="l"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設計にする。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6916400" y="10001707"/>
            <a:ext cx="6099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A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 / 13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73149132376c61bb4f0a4ff9af93616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914400"/>
            <a:ext cx="609905" cy="384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3619195"/>
            <a:ext cx="16068751" cy="1733702"/>
          </a:xfrm>
          <a:prstGeom prst="rect">
            <a:avLst/>
          </a:prstGeom>
          <a:solidFill>
            <a:srgbClr val="FBFAF6"/>
          </a:solidFill>
          <a:ln w="12700">
            <a:solidFill>
              <a:srgbClr val="CFD6E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" y="3619195"/>
            <a:ext cx="57607" cy="1733702"/>
          </a:xfrm>
          <a:prstGeom prst="rect">
            <a:avLst/>
          </a:prstGeom>
          <a:solidFill>
            <a:srgbClr val="B8722E"/>
          </a:solidFill>
          <a:ln w="12700">
            <a:solidFill>
              <a:srgbClr val="B8722E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3000" y="5572354"/>
            <a:ext cx="16068751" cy="1733702"/>
          </a:xfrm>
          <a:prstGeom prst="rect">
            <a:avLst/>
          </a:prstGeom>
          <a:solidFill>
            <a:srgbClr val="FBFAF6"/>
          </a:solidFill>
          <a:ln w="12700">
            <a:solidFill>
              <a:srgbClr val="CFD6E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5572354"/>
            <a:ext cx="57607" cy="1733702"/>
          </a:xfrm>
          <a:prstGeom prst="rect">
            <a:avLst/>
          </a:prstGeom>
          <a:solidFill>
            <a:srgbClr val="B8722E"/>
          </a:solidFill>
          <a:ln w="12700">
            <a:solidFill>
              <a:srgbClr val="B8722E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3000" y="7524598"/>
            <a:ext cx="16068751" cy="1733702"/>
          </a:xfrm>
          <a:prstGeom prst="rect">
            <a:avLst/>
          </a:prstGeom>
          <a:solidFill>
            <a:srgbClr val="FBFAF6"/>
          </a:solidFill>
          <a:ln w="12700">
            <a:solidFill>
              <a:srgbClr val="CFD6E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43000" y="7524598"/>
            <a:ext cx="57607" cy="1733702"/>
          </a:xfrm>
          <a:prstGeom prst="rect">
            <a:avLst/>
          </a:prstGeom>
          <a:solidFill>
            <a:srgbClr val="B8722E"/>
          </a:solidFill>
          <a:ln w="12700">
            <a:solidFill>
              <a:srgbClr val="B8722E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43000" y="1123798"/>
            <a:ext cx="7620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308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 BASIC POLICY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505102"/>
            <a:ext cx="15240305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68" kern="0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今年度の基本方針 — 3つの意思決定</a:t>
            </a:r>
            <a:endParaRPr lang="en-US" sz="33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2476195"/>
            <a:ext cx="1600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進め方の細部より先に、</a:t>
            </a:r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「今年度は何を最優先とするか」</a:t>
            </a:r>
            <a:pPr algn="l" indent="0" marL="0"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を明確にする。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524305" y="3857854"/>
            <a:ext cx="1143000" cy="896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00" b="1" dirty="0">
                <a:solidFill>
                  <a:srgbClr val="B8722E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01</a:t>
            </a:r>
            <a:endParaRPr lang="en-US" sz="6900" dirty="0"/>
          </a:p>
        </p:txBody>
      </p:sp>
      <p:sp>
        <p:nvSpPr>
          <p:cNvPr id="13" name="Text 10"/>
          <p:cNvSpPr txBox="1"/>
          <p:nvPr/>
        </p:nvSpPr>
        <p:spPr>
          <a:xfrm>
            <a:off x="3047695" y="3905402"/>
            <a:ext cx="13812012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AI実装経験の平準化を、最優先に置く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3047695" y="4401007"/>
            <a:ext cx="1381201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AISに今もっとも不足しているのは、スクラム経験より </a:t>
            </a:r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AI実装経験の偏り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昨年度は一部メンバーしか深く触れられなかった。今年度は</a:t>
            </a:r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「全員が自分の手でAI機能を1つ作る」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ことを軸に据える。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524305" y="5810098"/>
            <a:ext cx="1143000" cy="896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00" b="1" dirty="0">
                <a:solidFill>
                  <a:srgbClr val="B8722E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02</a:t>
            </a:r>
            <a:endParaRPr lang="en-US" sz="6900" dirty="0"/>
          </a:p>
        </p:txBody>
      </p:sp>
      <p:sp>
        <p:nvSpPr>
          <p:cNvPr id="16" name="Text 13"/>
          <p:cNvSpPr txBox="1"/>
          <p:nvPr/>
        </p:nvSpPr>
        <p:spPr>
          <a:xfrm>
            <a:off x="3047695" y="5857646"/>
            <a:ext cx="13812012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スクラムは「捨てる」のではなく、今年度は「優先度を下げる」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3047695" y="6354166"/>
            <a:ext cx="1381201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Trelloでのタスク可視化、月次目標、レビュー、ふりかえりなど </a:t>
            </a:r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アジャイル的な要素は残す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ただし、1プロダクト共同責任型のスクラム再現は、来年度以降の課題として整理する。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524305" y="7763256"/>
            <a:ext cx="1143000" cy="8961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6900" b="1" dirty="0">
                <a:solidFill>
                  <a:srgbClr val="B8722E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03</a:t>
            </a:r>
            <a:endParaRPr lang="en-US" sz="6900" dirty="0"/>
          </a:p>
        </p:txBody>
      </p:sp>
      <p:sp>
        <p:nvSpPr>
          <p:cNvPr id="19" name="Text 16"/>
          <p:cNvSpPr txBox="1"/>
          <p:nvPr/>
        </p:nvSpPr>
        <p:spPr>
          <a:xfrm>
            <a:off x="3047695" y="7810805"/>
            <a:ext cx="13812012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完了条件は「高度さ」ではなく、「説明・再利用・教材化」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3047695" y="8306410"/>
            <a:ext cx="13812012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完了とは、動く / 工夫と課題が言語化されている / 発表で説明できる、の3点が揃うこと。</a:t>
            </a:r>
            <a:pPr algn="l" indent="0" marL="0">
              <a:lnSpc>
                <a:spcPts val="2550"/>
              </a:lnSpc>
              <a:buNone/>
            </a:pP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「難しい機能を作った人が偉い」</a:t>
            </a:r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という設計は取らない。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16916400" y="10001707"/>
            <a:ext cx="6099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A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 / 13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73149132376c61bb4f0a4ff9af93616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914400"/>
            <a:ext cx="609905" cy="38405"/>
          </a:xfrm>
          <a:prstGeom prst="rect">
            <a:avLst/>
          </a:prstGeom>
        </p:spPr>
      </p:pic>
      <p:pic>
        <p:nvPicPr>
          <p:cNvPr id="3" name="Image 1" descr="gen-dedup-1737a7e4187a41a6c15093f9bac5d93b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714500" y="5048402"/>
            <a:ext cx="14859000" cy="3840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43000" y="7810805"/>
            <a:ext cx="16002000" cy="1333195"/>
          </a:xfrm>
          <a:prstGeom prst="rect">
            <a:avLst/>
          </a:prstGeom>
          <a:solidFill>
            <a:srgbClr val="EEF2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1714500" y="4858207"/>
            <a:ext cx="418795" cy="418795"/>
          </a:xfrm>
          <a:prstGeom prst="ellipse">
            <a:avLst/>
          </a:prstGeom>
          <a:solidFill>
            <a:srgbClr val="B872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4953305" y="4858207"/>
            <a:ext cx="418795" cy="418795"/>
          </a:xfrm>
          <a:prstGeom prst="ellipse">
            <a:avLst/>
          </a:prstGeom>
          <a:solidFill>
            <a:srgbClr val="B872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191195" y="4858207"/>
            <a:ext cx="418795" cy="418795"/>
          </a:xfrm>
          <a:prstGeom prst="ellipse">
            <a:avLst/>
          </a:prstGeom>
          <a:solidFill>
            <a:srgbClr val="B872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1430000" y="4858207"/>
            <a:ext cx="418795" cy="418795"/>
          </a:xfrm>
          <a:prstGeom prst="ellipse">
            <a:avLst/>
          </a:prstGeom>
          <a:solidFill>
            <a:srgbClr val="B872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4668805" y="4858207"/>
            <a:ext cx="476402" cy="476402"/>
          </a:xfrm>
          <a:prstGeom prst="roundRect">
            <a:avLst>
              <a:gd name="adj" fmla="val 43954"/>
            </a:avLst>
          </a:prstGeom>
          <a:solidFill>
            <a:srgbClr val="1A3358"/>
          </a:solidFill>
          <a:ln w="38100">
            <a:solidFill>
              <a:srgbClr val="B8722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714500" y="4953305"/>
            <a:ext cx="4197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4953305" y="4953305"/>
            <a:ext cx="4197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8191195" y="4953305"/>
            <a:ext cx="4197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1430000" y="4953305"/>
            <a:ext cx="4197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14668805" y="4953305"/>
            <a:ext cx="41971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99A5B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5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143000" y="1123798"/>
            <a:ext cx="7620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308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 MONTHLY CYCLE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1143000" y="1505102"/>
            <a:ext cx="15240305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68" kern="0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具体的な進め方 — 1か月1機能のサイクル</a:t>
            </a:r>
            <a:endParaRPr lang="en-US" sz="3300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2476195"/>
            <a:ext cx="1600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月次のハッカソン形式 + ゼミ形式で運用する。</a:t>
            </a:r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1か月ごとに完結し、翌月に見直せる</a:t>
            </a:r>
            <a:pPr algn="l" indent="0" marL="0"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のが設計上の要点。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3810305"/>
            <a:ext cx="2667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DAY 1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" y="4072738"/>
            <a:ext cx="2667305" cy="67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月初</a:t>
            </a:r>
            <a:pPr algn="l" indent="0" marL="0">
              <a:lnSpc>
                <a:spcPts val="2520"/>
              </a:lnSpc>
              <a:buNone/>
            </a:pPr>
            <a:endParaRPr lang="en-US" sz="18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アイデア出し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1143000" y="5578754"/>
            <a:ext cx="266730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全員でテーマを共有。</a:t>
            </a:r>
            <a:pPr algn="l" indent="0" marL="0">
              <a:lnSpc>
                <a:spcPts val="2210"/>
              </a:lnSpc>
              <a:buNone/>
            </a:pPr>
            <a:endParaRPr lang="en-US" sz="1200" dirty="0"/>
          </a:p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各自が今月の </a:t>
            </a:r>
            <a:pPr algn="l" indent="0" marL="0">
              <a:lnSpc>
                <a:spcPts val="2210"/>
              </a:lnSpc>
              <a:buNone/>
            </a:pPr>
            <a:r>
              <a:rPr lang="en-US" sz="1200" b="1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AI機能を1つ選ぶ</a:t>
            </a:r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381805" y="3810305"/>
            <a:ext cx="2667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WEEK 1–3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4381805" y="4072738"/>
            <a:ext cx="2667305" cy="67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</a:t>
            </a:r>
            <a:pPr algn="l" indent="0" marL="0">
              <a:lnSpc>
                <a:spcPts val="2520"/>
              </a:lnSpc>
              <a:buNone/>
            </a:pPr>
            <a:endParaRPr lang="en-US" sz="18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+ 週次共有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4381805" y="5578754"/>
            <a:ext cx="2667305" cy="889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在宅時間などで実装。</a:t>
            </a:r>
            <a:pPr algn="l" indent="0" marL="0">
              <a:lnSpc>
                <a:spcPts val="2210"/>
              </a:lnSpc>
              <a:buNone/>
            </a:pPr>
            <a:endParaRPr lang="en-US" sz="1200" dirty="0"/>
          </a:p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毎週 </a:t>
            </a:r>
            <a:pPr algn="l" indent="0" marL="0">
              <a:lnSpc>
                <a:spcPts val="2210"/>
              </a:lnSpc>
              <a:buNone/>
            </a:pPr>
            <a:r>
              <a:rPr lang="en-US" sz="1200" b="1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15分の情報共有会</a:t>
            </a:r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で進捗確認。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7619695" y="3810305"/>
            <a:ext cx="2667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WEEK 3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7619695" y="4072738"/>
            <a:ext cx="2667305" cy="67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スコープ</a:t>
            </a:r>
            <a:pPr algn="l" indent="0" marL="0">
              <a:lnSpc>
                <a:spcPts val="2520"/>
              </a:lnSpc>
              <a:buNone/>
            </a:pPr>
            <a:endParaRPr lang="en-US" sz="18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調整</a:t>
            </a:r>
            <a:endParaRPr lang="en-US" sz="1800" dirty="0"/>
          </a:p>
        </p:txBody>
      </p:sp>
      <p:sp>
        <p:nvSpPr>
          <p:cNvPr id="26" name="Text 22"/>
          <p:cNvSpPr txBox="1"/>
          <p:nvPr/>
        </p:nvSpPr>
        <p:spPr>
          <a:xfrm>
            <a:off x="7619695" y="5578754"/>
            <a:ext cx="2667305" cy="889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遅れが見えた場合は</a:t>
            </a:r>
            <a:pPr algn="l" indent="0" marL="0">
              <a:lnSpc>
                <a:spcPts val="2210"/>
              </a:lnSpc>
              <a:buNone/>
            </a:pPr>
            <a:endParaRPr lang="en-US" sz="1200" dirty="0"/>
          </a:p>
          <a:p>
            <a:pPr algn="l" indent="0" marL="0">
              <a:lnSpc>
                <a:spcPts val="2210"/>
              </a:lnSpc>
              <a:buNone/>
            </a:pPr>
            <a:r>
              <a:rPr lang="en-US" sz="1200" b="1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機能縮小・方法見直し</a:t>
            </a:r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を早めに実行。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10858500" y="3810305"/>
            <a:ext cx="2667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END OF MONTH</a:t>
            </a:r>
            <a:endParaRPr lang="en-US" sz="1200" dirty="0"/>
          </a:p>
        </p:txBody>
      </p:sp>
      <p:sp>
        <p:nvSpPr>
          <p:cNvPr id="28" name="Text 24"/>
          <p:cNvSpPr txBox="1"/>
          <p:nvPr/>
        </p:nvSpPr>
        <p:spPr>
          <a:xfrm>
            <a:off x="10858500" y="4072738"/>
            <a:ext cx="2667305" cy="67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発表</a:t>
            </a:r>
            <a:pPr algn="l" indent="0" marL="0">
              <a:lnSpc>
                <a:spcPts val="2520"/>
              </a:lnSpc>
              <a:buNone/>
            </a:pPr>
            <a:endParaRPr lang="en-US" sz="18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+ レビュー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10858500" y="5578754"/>
            <a:ext cx="2667305" cy="889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成果を発表。</a:t>
            </a:r>
            <a:pPr algn="l" indent="0" marL="0">
              <a:lnSpc>
                <a:spcPts val="2210"/>
              </a:lnSpc>
              <a:buNone/>
            </a:pPr>
            <a:endParaRPr lang="en-US" sz="1200" dirty="0"/>
          </a:p>
          <a:p>
            <a:pPr algn="l" indent="0" marL="0">
              <a:lnSpc>
                <a:spcPts val="2210"/>
              </a:lnSpc>
              <a:buNone/>
            </a:pPr>
            <a:r>
              <a:rPr lang="en-US" sz="1200" b="1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狙い・工夫・課題・失敗</a:t>
            </a:r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まで共有する。</a:t>
            </a:r>
            <a:endParaRPr lang="en-US" sz="1200" dirty="0"/>
          </a:p>
        </p:txBody>
      </p:sp>
      <p:sp>
        <p:nvSpPr>
          <p:cNvPr id="30" name="Text 26"/>
          <p:cNvSpPr txBox="1"/>
          <p:nvPr/>
        </p:nvSpPr>
        <p:spPr>
          <a:xfrm>
            <a:off x="14097305" y="3810305"/>
            <a:ext cx="2857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MONTH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14097305" y="4072738"/>
            <a:ext cx="2857500" cy="671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改善 or 次テーマ</a:t>
            </a:r>
            <a:pPr algn="l" indent="0" marL="0">
              <a:lnSpc>
                <a:spcPts val="2520"/>
              </a:lnSpc>
              <a:buNone/>
            </a:pPr>
            <a:endParaRPr lang="en-US" sz="18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+ 教材化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14097305" y="5578754"/>
            <a:ext cx="28575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同じ機能を継続改善しても、</a:t>
            </a:r>
            <a:pPr algn="l" indent="0" marL="0">
              <a:lnSpc>
                <a:spcPts val="2210"/>
              </a:lnSpc>
              <a:buNone/>
            </a:pPr>
            <a:endParaRPr lang="en-US" sz="1200" dirty="0"/>
          </a:p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別機能に挑戦してもよい。</a:t>
            </a:r>
            <a:endParaRPr lang="en-US" sz="1200" dirty="0"/>
          </a:p>
        </p:txBody>
      </p:sp>
      <p:sp>
        <p:nvSpPr>
          <p:cNvPr id="33" name="Text 29"/>
          <p:cNvSpPr txBox="1"/>
          <p:nvPr/>
        </p:nvSpPr>
        <p:spPr>
          <a:xfrm>
            <a:off x="1143000" y="6953098"/>
            <a:ext cx="1600200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0" spc="168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↻ 1か月 × 6サイクル ↻</a:t>
            </a:r>
            <a:endParaRPr lang="en-US" sz="1400" dirty="0"/>
          </a:p>
        </p:txBody>
      </p:sp>
      <p:sp>
        <p:nvSpPr>
          <p:cNvPr id="34" name="Text 30"/>
          <p:cNvSpPr txBox="1"/>
          <p:nvPr/>
        </p:nvSpPr>
        <p:spPr>
          <a:xfrm>
            <a:off x="1524305" y="8001000"/>
            <a:ext cx="1524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88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DESIGN INTENT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1524305" y="8286293"/>
            <a:ext cx="15240305" cy="801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半年固定でやり切る前提ではなく、</a:t>
            </a:r>
            <a:pPr algn="l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B8722E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1か月ごとに軌道修正できる</a:t>
            </a:r>
            <a:pPr algn="l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 ように設計している。</a:t>
            </a:r>
            <a:pPr algn="l" indent="0" marL="0">
              <a:lnSpc>
                <a:spcPts val="3000"/>
              </a:lnSpc>
              <a:buNone/>
            </a:pPr>
            <a:endParaRPr lang="en-US" sz="20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共通課題の追加、レビュー比重の増加、短期ペア導入なども月次で判断可能。</a:t>
            </a:r>
            <a:endParaRPr lang="en-US" sz="2000" dirty="0"/>
          </a:p>
        </p:txBody>
      </p:sp>
      <p:sp>
        <p:nvSpPr>
          <p:cNvPr id="36" name="Text 32"/>
          <p:cNvSpPr txBox="1"/>
          <p:nvPr/>
        </p:nvSpPr>
        <p:spPr>
          <a:xfrm>
            <a:off x="16916400" y="10001707"/>
            <a:ext cx="6099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A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 / 13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73149132376c61bb4f0a4ff9af93616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914400"/>
            <a:ext cx="609905" cy="384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3715207"/>
            <a:ext cx="7638898" cy="5734202"/>
          </a:xfrm>
          <a:prstGeom prst="rect">
            <a:avLst/>
          </a:prstGeom>
          <a:solidFill>
            <a:srgbClr val="FBFAF6"/>
          </a:solidFill>
          <a:ln w="12700">
            <a:solidFill>
              <a:srgbClr val="CFD6E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144000" y="3715207"/>
            <a:ext cx="8001000" cy="5715000"/>
          </a:xfrm>
          <a:prstGeom prst="rect">
            <a:avLst/>
          </a:prstGeom>
          <a:solidFill>
            <a:srgbClr val="0F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1" descr="gen-dedup-0fffd3179a1de0debd301fc67f93bed7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429207" y="8287207"/>
            <a:ext cx="7048195" cy="9144"/>
          </a:xfrm>
          <a:prstGeom prst="rect">
            <a:avLst/>
          </a:prstGeom>
        </p:spPr>
      </p:pic>
      <p:pic>
        <p:nvPicPr>
          <p:cNvPr id="6" name="Image 2" descr="gen-dedup-3d37a1fcdd5fd0c140bbdae5fc3538e9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9430207" y="8287207"/>
            <a:ext cx="7429500" cy="9144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143000" y="1123798"/>
            <a:ext cx="7620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308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 THEME &amp; BASE APP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1505102"/>
            <a:ext cx="15240305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68" kern="0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題材と素体アプリ — 土台はシンプルに、上に幅を持たせる</a:t>
            </a:r>
            <a:endParaRPr lang="en-US" sz="330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2476195"/>
            <a:ext cx="1600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題材は</a:t>
            </a:r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旅行者向け宿泊予約サービス</a:t>
            </a:r>
            <a:pPr algn="l" indent="0" marL="0"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。素体はすでに完成しており、</a:t>
            </a:r>
            <a:pPr algn="l" indent="0" marL="0">
              <a:buNone/>
            </a:pPr>
            <a:r>
              <a:rPr lang="en-US" sz="1800" b="1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新規開発工数は発生しない</a:t>
            </a:r>
            <a:pPr algn="l" indent="0" marL="0"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800" dirty="0"/>
          </a:p>
        </p:txBody>
      </p:sp>
      <p:sp>
        <p:nvSpPr>
          <p:cNvPr id="10" name="Text 5"/>
          <p:cNvSpPr txBox="1"/>
          <p:nvPr/>
        </p:nvSpPr>
        <p:spPr>
          <a:xfrm>
            <a:off x="1429207" y="3905402"/>
            <a:ext cx="6667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88" kern="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BASE APP / 素体アプリ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1429207" y="4209898"/>
            <a:ext cx="66678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宿泊予約サービスの最小構成</a:t>
            </a:r>
            <a:endParaRPr lang="en-US" sz="2400" dirty="0"/>
          </a:p>
        </p:txBody>
      </p:sp>
      <p:sp>
        <p:nvSpPr>
          <p:cNvPr id="12" name="Text 7"/>
          <p:cNvSpPr txBox="1"/>
          <p:nvPr/>
        </p:nvSpPr>
        <p:spPr>
          <a:xfrm>
            <a:off x="1429207" y="4762195"/>
            <a:ext cx="7049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b="1" spc="84" kern="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管理者向け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1429207" y="5115154"/>
            <a:ext cx="7049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 宿泊施設情報の登録・編集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429207" y="5477256"/>
            <a:ext cx="7049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 宿泊プラン情報の登録・編集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429207" y="6067044"/>
            <a:ext cx="70491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b="1" spc="84" kern="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旅行者向け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429207" y="6420002"/>
            <a:ext cx="7049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 宿泊施設・宿泊プランの検索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429207" y="6782105"/>
            <a:ext cx="7049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 宿泊プランの予約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429207" y="8429854"/>
            <a:ext cx="70491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土台は意図的に薄く。</a:t>
            </a:r>
            <a:pPr algn="l" indent="0" marL="0">
              <a:buNone/>
            </a:pPr>
            <a:r>
              <a:rPr lang="en-US" sz="1200" b="1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検索・推薦・生成・要約・分類・予測</a:t>
            </a:r>
            <a:pPr algn="l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のAI機能を上に載せられる構造を優先している。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9430207" y="3905402"/>
            <a:ext cx="66678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88" kern="0" dirty="0">
                <a:solidFill>
                  <a:srgbClr val="D99A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FEATURES / 上に積む機能例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9430207" y="4209898"/>
            <a:ext cx="6667805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各自が月次で積むAI機能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9430207" y="4858207"/>
            <a:ext cx="7429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99A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◆</a:t>
            </a:r>
            <a:pPr algn="l" indent="0" marL="0">
              <a:buNone/>
            </a:pPr>
            <a:r>
              <a:rPr lang="en-US" sz="1500" dirty="0">
                <a:solidFill>
                  <a:srgbClr val="DFE6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条件に応じた宿泊プランのレコメンド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9430207" y="5333695"/>
            <a:ext cx="7429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99A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◆</a:t>
            </a:r>
            <a:pPr algn="l" indent="0" marL="0">
              <a:buNone/>
            </a:pPr>
            <a:r>
              <a:rPr lang="en-US" sz="1500" dirty="0">
                <a:solidFill>
                  <a:srgbClr val="DFE6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レビュー要約 / 口コミ傾向の分析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9430207" y="5810098"/>
            <a:ext cx="7429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99A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◆</a:t>
            </a:r>
            <a:pPr algn="l" indent="0" marL="0">
              <a:buNone/>
            </a:pPr>
            <a:r>
              <a:rPr lang="en-US" sz="1500" dirty="0">
                <a:solidFill>
                  <a:srgbClr val="DFE6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宿泊料金・需要の簡易予測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9430207" y="6286500"/>
            <a:ext cx="7429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99A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◆</a:t>
            </a:r>
            <a:pPr algn="l" indent="0" marL="0">
              <a:buNone/>
            </a:pPr>
            <a:r>
              <a:rPr lang="en-US" sz="1500" dirty="0">
                <a:solidFill>
                  <a:srgbClr val="DFE6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問い合わせ対応用のFAQ / チャット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9430207" y="6762902"/>
            <a:ext cx="7429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99A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◆</a:t>
            </a:r>
            <a:pPr algn="l" indent="0" marL="0">
              <a:buNone/>
            </a:pPr>
            <a:r>
              <a:rPr lang="en-US" sz="1500" dirty="0">
                <a:solidFill>
                  <a:srgbClr val="DFE6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施設紹介文・プラン説明文の自動生成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9430207" y="7239305"/>
            <a:ext cx="7429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D99A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◆</a:t>
            </a:r>
            <a:pPr algn="l" indent="0" marL="0">
              <a:buNone/>
            </a:pPr>
            <a:r>
              <a:rPr lang="en-US" sz="1500" dirty="0">
                <a:solidFill>
                  <a:srgbClr val="DFE6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類似施設の提案 / 比較支援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9430207" y="8429854"/>
            <a:ext cx="742950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EA1B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あくまで例。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毎月のアイデア出しで柔軟に決める</a:t>
            </a:r>
            <a:pPr algn="l" indent="0" marL="0">
              <a:buNone/>
            </a:pPr>
            <a:r>
              <a:rPr lang="en-US" sz="1300" dirty="0">
                <a:solidFill>
                  <a:srgbClr val="8EA1B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。実データではなくAI生成の架空データを用いる（実データ演習は別講座で補完）。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16916400" y="10001707"/>
            <a:ext cx="6099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A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 / 13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73149132376c61bb4f0a4ff9af93616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914400"/>
            <a:ext cx="609905" cy="384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3715207"/>
            <a:ext cx="7830007" cy="2590495"/>
          </a:xfrm>
          <a:prstGeom prst="rect">
            <a:avLst/>
          </a:prstGeom>
          <a:solidFill>
            <a:srgbClr val="FBFAF6"/>
          </a:solidFill>
          <a:ln w="12700">
            <a:solidFill>
              <a:srgbClr val="CFD6E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144000" y="3715207"/>
            <a:ext cx="8020202" cy="2590495"/>
          </a:xfrm>
          <a:prstGeom prst="rect">
            <a:avLst/>
          </a:prstGeom>
          <a:solidFill>
            <a:srgbClr val="FBFAF6"/>
          </a:solidFill>
          <a:ln w="12700">
            <a:solidFill>
              <a:srgbClr val="CFD6E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3000" y="6572707"/>
            <a:ext cx="7830007" cy="2590495"/>
          </a:xfrm>
          <a:prstGeom prst="rect">
            <a:avLst/>
          </a:prstGeom>
          <a:solidFill>
            <a:srgbClr val="FBFAF6"/>
          </a:solidFill>
          <a:ln w="12700">
            <a:solidFill>
              <a:srgbClr val="CFD6E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0" y="6572707"/>
            <a:ext cx="8001000" cy="2572207"/>
          </a:xfrm>
          <a:prstGeom prst="rect">
            <a:avLst/>
          </a:prstGeom>
          <a:solidFill>
            <a:srgbClr val="0F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1123798"/>
            <a:ext cx="7620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308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 WHY IT WORKS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505102"/>
            <a:ext cx="15240305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68" kern="0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なぜこの方式が、教育的に有効か</a:t>
            </a:r>
            <a:endParaRPr lang="en-US" sz="33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2476195"/>
            <a:ext cx="1600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「AI機能を1つ作る」経験を全員に配ることは、それ自体が </a:t>
            </a:r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再現性のある学習構造</a:t>
            </a:r>
            <a:pPr algn="l" indent="0" marL="0"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を作る。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29207" y="3952951"/>
            <a:ext cx="7239305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8722E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01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1429207" y="4492447"/>
            <a:ext cx="7239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経験の平準化 — 全員が「自分で作った」を持つ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429207" y="4933188"/>
            <a:ext cx="7239305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昨年度は一部メンバーに集中していたAI実装経験を、全員に配る。</a:t>
            </a:r>
            <a:pPr algn="l" indent="0" marL="0">
              <a:lnSpc>
                <a:spcPts val="2450"/>
              </a:lnSpc>
              <a:buNone/>
            </a:pPr>
            <a:endParaRPr lang="en-US" sz="1400" dirty="0"/>
          </a:p>
          <a:p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1人1機能 × 半年で、</a:t>
            </a:r>
            <a:pPr algn="l" indent="0" marL="0">
              <a:lnSpc>
                <a:spcPts val="2450"/>
              </a:lnSpc>
              <a:buNone/>
            </a:pPr>
            <a:r>
              <a:rPr lang="en-US" sz="1400" b="1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各自が複数のAI機能を自ら設計・実装</a:t>
            </a:r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する経験を持つ。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430207" y="3952951"/>
            <a:ext cx="742950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8722E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9430207" y="4492447"/>
            <a:ext cx="7429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多様性を、学習資源に変える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9430207" y="4933188"/>
            <a:ext cx="7429500" cy="99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UI/UX起点、データ構造起点、モデル/プロンプト起点 —</a:t>
            </a:r>
            <a:pPr algn="l" indent="0" marL="0">
              <a:lnSpc>
                <a:spcPts val="2450"/>
              </a:lnSpc>
              <a:buNone/>
            </a:pPr>
            <a:endParaRPr lang="en-US" sz="1400" dirty="0"/>
          </a:p>
          <a:p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違う発想を持つメンバーの成果を持ち寄ることで、</a:t>
            </a:r>
            <a:pPr algn="l" indent="0" marL="0">
              <a:lnSpc>
                <a:spcPts val="2450"/>
              </a:lnSpc>
              <a:buNone/>
            </a:pPr>
            <a:r>
              <a:rPr lang="en-US" sz="1400" b="1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同じ題材でも複数の切り口を体験</a:t>
            </a:r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できる。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429207" y="6810451"/>
            <a:ext cx="7239305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B8722E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1429207" y="7349947"/>
            <a:ext cx="7239305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ゼミ形式で「発想の背景」まで共有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1429207" y="7790688"/>
            <a:ext cx="7239305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発表で共有するのは実装結果だけではない。</a:t>
            </a:r>
            <a:pPr algn="l" indent="0" marL="0">
              <a:lnSpc>
                <a:spcPts val="2450"/>
              </a:lnSpc>
              <a:buNone/>
            </a:pPr>
            <a:endParaRPr lang="en-US" sz="1400" dirty="0"/>
          </a:p>
          <a:p>
            <a:pPr algn="l" indent="0" marL="0">
              <a:lnSpc>
                <a:spcPts val="2450"/>
              </a:lnSpc>
              <a:buNone/>
            </a:pPr>
            <a:r>
              <a:rPr lang="en-US" sz="1400" b="1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狙い・工夫・失敗・苦労した点</a:t>
            </a:r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を言葉にすることで、発表者本人の理解も定着する。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430207" y="6810451"/>
            <a:ext cx="7429500" cy="4096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9A5B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04</a:t>
            </a:r>
            <a:endParaRPr lang="en-US" sz="3200" dirty="0"/>
          </a:p>
        </p:txBody>
      </p:sp>
      <p:sp>
        <p:nvSpPr>
          <p:cNvPr id="20" name="Text 17"/>
          <p:cNvSpPr txBox="1"/>
          <p:nvPr/>
        </p:nvSpPr>
        <p:spPr>
          <a:xfrm>
            <a:off x="9430207" y="7349947"/>
            <a:ext cx="74295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成果物が、そのまま翌年度の教材になる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9430207" y="7790688"/>
            <a:ext cx="7429500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機能単位に分解された成果は、新入社員研修の課題素材にそのまま流用できる。</a:t>
            </a:r>
            <a:pPr algn="l" indent="0" marL="0">
              <a:lnSpc>
                <a:spcPts val="2450"/>
              </a:lnSpc>
              <a:buNone/>
            </a:pPr>
            <a:endParaRPr lang="en-US" sz="1400" dirty="0"/>
          </a:p>
          <a:p>
            <a:pPr algn="l" indent="0" marL="0">
              <a:lnSpc>
                <a:spcPts val="245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単年活動ではなく、教育の土台を積む半年</a:t>
            </a:r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C9D3E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として位置づけている。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6916400" y="9715500"/>
            <a:ext cx="6099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A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08 / 13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73149132376c61bb4f0a4ff9af93616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914400"/>
            <a:ext cx="609905" cy="384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667305"/>
            <a:ext cx="16059607" cy="1238098"/>
          </a:xfrm>
          <a:prstGeom prst="rect">
            <a:avLst/>
          </a:prstGeom>
          <a:solidFill>
            <a:srgbClr val="F5EFE3"/>
          </a:solidFill>
          <a:ln/>
        </p:spPr>
      </p:sp>
      <p:sp>
        <p:nvSpPr>
          <p:cNvPr id="4" name="Shape 1"/>
          <p:cNvSpPr/>
          <p:nvPr/>
        </p:nvSpPr>
        <p:spPr>
          <a:xfrm>
            <a:off x="1143000" y="2667305"/>
            <a:ext cx="57607" cy="1238098"/>
          </a:xfrm>
          <a:prstGeom prst="rect">
            <a:avLst/>
          </a:prstGeom>
          <a:solidFill>
            <a:srgbClr val="8A3B3B"/>
          </a:solidFill>
          <a:ln w="12700">
            <a:solidFill>
              <a:srgbClr val="8A3B3B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3000" y="4667098"/>
            <a:ext cx="7830007" cy="2115007"/>
          </a:xfrm>
          <a:prstGeom prst="rect">
            <a:avLst/>
          </a:prstGeom>
          <a:solidFill>
            <a:srgbClr val="FBFAF6"/>
          </a:solidFill>
          <a:ln w="12700">
            <a:solidFill>
              <a:srgbClr val="CFD6E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144000" y="4667098"/>
            <a:ext cx="8020202" cy="2115007"/>
          </a:xfrm>
          <a:prstGeom prst="rect">
            <a:avLst/>
          </a:prstGeom>
          <a:solidFill>
            <a:srgbClr val="FBFAF6"/>
          </a:solidFill>
          <a:ln w="12700">
            <a:solidFill>
              <a:srgbClr val="CFD6E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3000" y="6953098"/>
            <a:ext cx="7830007" cy="2115007"/>
          </a:xfrm>
          <a:prstGeom prst="rect">
            <a:avLst/>
          </a:prstGeom>
          <a:solidFill>
            <a:srgbClr val="FBFAF6"/>
          </a:solidFill>
          <a:ln w="12700">
            <a:solidFill>
              <a:srgbClr val="CFD6E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144000" y="6953098"/>
            <a:ext cx="8020202" cy="2115007"/>
          </a:xfrm>
          <a:prstGeom prst="rect">
            <a:avLst/>
          </a:prstGeom>
          <a:solidFill>
            <a:srgbClr val="FBFAF6"/>
          </a:solidFill>
          <a:ln w="12700">
            <a:solidFill>
              <a:srgbClr val="CFD6E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43000" y="1123798"/>
            <a:ext cx="7620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308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08 RISK RESPONSE — 1 / 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505102"/>
            <a:ext cx="15240305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68" kern="0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懸念への先回り — 個人プレー化しないか</a:t>
            </a:r>
            <a:endParaRPr lang="en-US" sz="33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2876702"/>
            <a:ext cx="1524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64" kern="0" dirty="0">
                <a:solidFill>
                  <a:srgbClr val="8A3B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CONCERN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524305" y="3181198"/>
            <a:ext cx="152403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各自が別々のテーマを持つと、結局「個人が勝手に作るだけ」になり、</a:t>
            </a:r>
            <a:pPr algn="l" indent="0" marL="0">
              <a:buNone/>
            </a:pPr>
            <a:r>
              <a:rPr lang="en-US" sz="2100" b="1" dirty="0">
                <a:solidFill>
                  <a:srgbClr val="8A3B3B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チームに知見が残らないのではないか。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1143000" y="4238244"/>
            <a:ext cx="1524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64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RESPONSE — 4つの装置で「チームの知見」に変える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429207" y="4858207"/>
            <a:ext cx="7239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MECHANISM 01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429207" y="5143500"/>
            <a:ext cx="7239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月次発表 + ゼミ形式レビュー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1429207" y="5609844"/>
            <a:ext cx="7239305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成果だけでなく </a:t>
            </a:r>
            <a:pPr algn="l" indent="0" marL="0">
              <a:lnSpc>
                <a:spcPts val="2450"/>
              </a:lnSpc>
              <a:buNone/>
            </a:pPr>
            <a:r>
              <a:rPr lang="en-US" sz="1400" b="1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 / 工夫 / 課題 / 失敗</a:t>
            </a:r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を共有。</a:t>
            </a:r>
            <a:pPr algn="l" indent="0" marL="0">
              <a:lnSpc>
                <a:spcPts val="2450"/>
              </a:lnSpc>
              <a:buNone/>
            </a:pPr>
            <a:endParaRPr lang="en-US" sz="1400" dirty="0"/>
          </a:p>
          <a:p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他メンバーからの質問と助言をその場で受ける。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430207" y="4858207"/>
            <a:ext cx="7429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MECHANISM 02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430207" y="5143500"/>
            <a:ext cx="7429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週次15分の情報共有会</a:t>
            </a:r>
            <a:endParaRPr lang="en-US" sz="2100" dirty="0"/>
          </a:p>
        </p:txBody>
      </p:sp>
      <p:sp>
        <p:nvSpPr>
          <p:cNvPr id="19" name="Text 16"/>
          <p:cNvSpPr txBox="1"/>
          <p:nvPr/>
        </p:nvSpPr>
        <p:spPr>
          <a:xfrm>
            <a:off x="9430207" y="5609844"/>
            <a:ext cx="7429500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月末発表を待たず、</a:t>
            </a:r>
            <a:pPr algn="l" indent="0" marL="0">
              <a:lnSpc>
                <a:spcPts val="2450"/>
              </a:lnSpc>
              <a:buNone/>
            </a:pPr>
            <a:r>
              <a:rPr lang="en-US" sz="1400" b="1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週単位で進捗と詰まりを可視化</a:t>
            </a:r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l" indent="0" marL="0">
              <a:lnSpc>
                <a:spcPts val="2450"/>
              </a:lnSpc>
              <a:buNone/>
            </a:pPr>
            <a:endParaRPr lang="en-US" sz="1400" dirty="0"/>
          </a:p>
          <a:p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Trelloでタスクの見える化と早期の相談を促す。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429207" y="7144207"/>
            <a:ext cx="7239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MECHANISM 03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429207" y="7429500"/>
            <a:ext cx="7239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共通の素体アプリという土台</a:t>
            </a:r>
            <a:endParaRPr lang="en-US" sz="2100" dirty="0"/>
          </a:p>
        </p:txBody>
      </p:sp>
      <p:sp>
        <p:nvSpPr>
          <p:cNvPr id="22" name="Text 19"/>
          <p:cNvSpPr txBox="1"/>
          <p:nvPr/>
        </p:nvSpPr>
        <p:spPr>
          <a:xfrm>
            <a:off x="1429207" y="7895844"/>
            <a:ext cx="7239305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各自が触るのは同じアプリの上。</a:t>
            </a:r>
            <a:pPr algn="l" indent="0" marL="0">
              <a:lnSpc>
                <a:spcPts val="2450"/>
              </a:lnSpc>
              <a:buNone/>
            </a:pPr>
            <a:endParaRPr lang="en-US" sz="1400" dirty="0"/>
          </a:p>
          <a:p>
            <a:pPr algn="l" indent="0" marL="0">
              <a:lnSpc>
                <a:spcPts val="2450"/>
              </a:lnSpc>
              <a:buNone/>
            </a:pPr>
            <a:r>
              <a:rPr lang="en-US" sz="1400" b="1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他人の実装を読んで理解できる</a:t>
            </a:r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共通コンテキストが担保される。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430207" y="7144207"/>
            <a:ext cx="7429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16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MECHANISM 04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9430207" y="7429500"/>
            <a:ext cx="7429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教材化を「完了条件」に含める</a:t>
            </a:r>
            <a:endParaRPr lang="en-US" sz="2100" dirty="0"/>
          </a:p>
        </p:txBody>
      </p:sp>
      <p:sp>
        <p:nvSpPr>
          <p:cNvPr id="25" name="Text 22"/>
          <p:cNvSpPr txBox="1"/>
          <p:nvPr/>
        </p:nvSpPr>
        <p:spPr>
          <a:xfrm>
            <a:off x="9430207" y="7895844"/>
            <a:ext cx="7429500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個人の学びを外へ出す設計。</a:t>
            </a:r>
            <a:pPr algn="l" indent="0" marL="0">
              <a:lnSpc>
                <a:spcPts val="2450"/>
              </a:lnSpc>
              <a:buNone/>
            </a:pPr>
            <a:r>
              <a:rPr lang="en-US" sz="1400" b="1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教材にできて初めて完了</a:t>
            </a:r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とすることで、</a:t>
            </a:r>
            <a:pPr algn="l" indent="0" marL="0">
              <a:lnSpc>
                <a:spcPts val="2450"/>
              </a:lnSpc>
              <a:buNone/>
            </a:pPr>
            <a:endParaRPr lang="en-US" sz="1400" dirty="0"/>
          </a:p>
          <a:p>
            <a:pPr algn="l" indent="0" marL="0">
              <a:lnSpc>
                <a:spcPts val="245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「個人の頭の中」に閉じない構造にする。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143000" y="9286646"/>
            <a:ext cx="1600200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補足：</a:t>
            </a:r>
            <a:pPr algn="l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ペア作業やローテーションも検討したが、</a:t>
            </a:r>
            <a:pPr algn="l" indent="0" marL="0">
              <a:buNone/>
            </a:pPr>
            <a:r>
              <a:rPr lang="en-US" sz="1200" b="1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別オフィス勤務・客先常駐・出張</a:t>
            </a:r>
            <a:pPr algn="l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という現状の働き方では常設が難しく、まずは実行可能性を優先している。必要に応じて月次で短期ペアを追加投入する余地は残す。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6916400" y="10001707"/>
            <a:ext cx="6099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A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09 / 13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73149132376c61bb4f0a4ff9af93616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914400"/>
            <a:ext cx="609905" cy="384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2572207"/>
            <a:ext cx="16021202" cy="2018995"/>
          </a:xfrm>
          <a:prstGeom prst="rect">
            <a:avLst/>
          </a:prstGeom>
          <a:solidFill>
            <a:srgbClr val="FBFAF6"/>
          </a:solidFill>
          <a:ln w="12700">
            <a:solidFill>
              <a:srgbClr val="CFD6E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" y="4762195"/>
            <a:ext cx="16021202" cy="2018995"/>
          </a:xfrm>
          <a:prstGeom prst="rect">
            <a:avLst/>
          </a:prstGeom>
          <a:solidFill>
            <a:srgbClr val="FBFAF6"/>
          </a:solidFill>
          <a:ln w="12700">
            <a:solidFill>
              <a:srgbClr val="CFD6E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143000" y="6953098"/>
            <a:ext cx="16021202" cy="2018995"/>
          </a:xfrm>
          <a:prstGeom prst="rect">
            <a:avLst/>
          </a:prstGeom>
          <a:solidFill>
            <a:srgbClr val="FBFAF6"/>
          </a:solidFill>
          <a:ln w="12700">
            <a:solidFill>
              <a:srgbClr val="CFD6E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43000" y="1123798"/>
            <a:ext cx="7620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308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09 RISK RESPONSE — 2 / 2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143000" y="1505102"/>
            <a:ext cx="15240305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68" kern="0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懸念への先回り — スクラム・品質・完了条件</a:t>
            </a:r>
            <a:endParaRPr lang="en-US" sz="3300" dirty="0"/>
          </a:p>
        </p:txBody>
      </p:sp>
      <p:sp>
        <p:nvSpPr>
          <p:cNvPr id="8" name="Text 5"/>
          <p:cNvSpPr txBox="1"/>
          <p:nvPr/>
        </p:nvSpPr>
        <p:spPr>
          <a:xfrm>
            <a:off x="1524305" y="2762402"/>
            <a:ext cx="1143000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A3B3B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Q.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2762402" y="2809951"/>
            <a:ext cx="14002207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スクラムを学ばせたいのか、AI実装を学ばせたいのか。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2762402" y="3227832"/>
            <a:ext cx="14002207" cy="105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1500" b="1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A.</a:t>
            </a:r>
            <a:pPr algn="l" indent="0" marL="0">
              <a:lnSpc>
                <a:spcPts val="2625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今年度は </a:t>
            </a:r>
            <a:pPr algn="l" indent="0" marL="0">
              <a:lnSpc>
                <a:spcPts val="2625"/>
              </a:lnSpc>
              <a:buNone/>
            </a:pPr>
            <a:r>
              <a:rPr lang="en-US" sz="1500" b="1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AI実装経験の平準化を優先</a:t>
            </a:r>
            <a:pPr algn="l" indent="0" marL="0">
              <a:lnSpc>
                <a:spcPts val="2625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pPr algn="l" indent="0" marL="0">
              <a:lnSpc>
                <a:spcPts val="2625"/>
              </a:lnSpc>
              <a:buNone/>
            </a:pPr>
            <a:endParaRPr lang="en-US" sz="150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AISに不足しているのはスクラム経験よりAI実装経験の偏り。ただし</a:t>
            </a:r>
            <a:pPr algn="l" indent="0" marL="0">
              <a:lnSpc>
                <a:spcPts val="2625"/>
              </a:lnSpc>
              <a:buNone/>
            </a:pPr>
            <a:r>
              <a:rPr lang="en-US" sz="1500" b="1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Trelloでの可視化、月次目標、レビュー、ふりかえり</a:t>
            </a:r>
            <a:pPr algn="l" indent="0" marL="0">
              <a:lnSpc>
                <a:spcPts val="2625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などアジャイル的要素は残す。</a:t>
            </a:r>
            <a:pPr algn="l" indent="0" marL="0">
              <a:lnSpc>
                <a:spcPts val="2625"/>
              </a:lnSpc>
              <a:buNone/>
            </a:pPr>
            <a:endParaRPr lang="en-US" sz="150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「スクラムを捨てる」のではなく </a:t>
            </a:r>
            <a:pPr algn="l" indent="0" marL="0">
              <a:lnSpc>
                <a:spcPts val="2625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「今年度は優先度を下げる」</a:t>
            </a:r>
            <a:pPr algn="l" indent="0" marL="0">
              <a:lnSpc>
                <a:spcPts val="2625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という整理。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524305" y="4953305"/>
            <a:ext cx="1143000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A3B3B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Q.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2762402" y="5000854"/>
            <a:ext cx="14002207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1か月の開発で、何をもって「完了」とみなすのか。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2762402" y="5418734"/>
            <a:ext cx="14002207" cy="1052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1500" b="1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A.</a:t>
            </a:r>
            <a:pPr algn="l" indent="0" marL="0">
              <a:lnSpc>
                <a:spcPts val="2625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完了条件は「高度さ」ではなく、</a:t>
            </a:r>
            <a:pPr algn="l" indent="0" marL="0">
              <a:lnSpc>
                <a:spcPts val="2625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説明可能・再利用可能・教材化可能</a:t>
            </a:r>
            <a:pPr algn="l" indent="0" marL="0">
              <a:lnSpc>
                <a:spcPts val="2625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の3点。</a:t>
            </a:r>
            <a:pPr algn="l" indent="0" marL="0">
              <a:lnSpc>
                <a:spcPts val="2625"/>
              </a:lnSpc>
              <a:buNone/>
            </a:pPr>
            <a:endParaRPr lang="en-US" sz="150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具体的には ① 最低限デモ可能に動作する / ② 工夫点と課題が整理されている / ③ 月次発表で説明できる。</a:t>
            </a:r>
            <a:pPr algn="l" indent="0" marL="0">
              <a:lnSpc>
                <a:spcPts val="2625"/>
              </a:lnSpc>
              <a:buNone/>
            </a:pPr>
            <a:endParaRPr lang="en-US" sz="150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1500" b="1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難しいものを作った人が偉い、という設計は取らない</a:t>
            </a:r>
            <a:pPr algn="l" indent="0" marL="0">
              <a:lnSpc>
                <a:spcPts val="2625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524305" y="7144207"/>
            <a:ext cx="1143000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A3B3B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Q.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2762402" y="7191756"/>
            <a:ext cx="14002207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架空データでのAI開発では、実務レベルの学習にならないのでは。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2762402" y="7608722"/>
            <a:ext cx="14002207" cy="719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1500" b="1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A.</a:t>
            </a:r>
            <a:pPr algn="l" indent="0" marL="0">
              <a:lnSpc>
                <a:spcPts val="2625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本活動で学ぶのは </a:t>
            </a:r>
            <a:pPr algn="l" indent="0" marL="0">
              <a:lnSpc>
                <a:spcPts val="2625"/>
              </a:lnSpc>
              <a:buNone/>
            </a:pPr>
            <a:r>
              <a:rPr lang="en-US" sz="1500" b="1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AI機能をアプリに組み込む一連の流れ</a:t>
            </a:r>
            <a:pPr algn="l" indent="0" marL="0">
              <a:lnSpc>
                <a:spcPts val="2625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（企画・入出力設計・モデル/プロンプト選定・UI落とし込み）。</a:t>
            </a:r>
            <a:pPr algn="l" indent="0" marL="0">
              <a:lnSpc>
                <a:spcPts val="2625"/>
              </a:lnSpc>
              <a:buNone/>
            </a:pPr>
            <a:endParaRPr lang="en-US" sz="150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実データを用いた機械学習・評価は、海野さん主催の機械学習入門講座（Kaggle演習含む）</a:t>
            </a:r>
            <a:pPr algn="l" indent="0" marL="0">
              <a:lnSpc>
                <a:spcPts val="2625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で補完する役割分担。両者は競合せず、補完関係。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9191549"/>
            <a:ext cx="1600200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なお：</a:t>
            </a:r>
            <a:pPr algn="l"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途中でうまくいかない場合も、</a:t>
            </a:r>
            <a:pPr algn="l" indent="0" marL="0">
              <a:buNone/>
            </a:pPr>
            <a:r>
              <a:rPr lang="en-US" sz="1400" b="1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1か月単位で運用を見直せる</a:t>
            </a:r>
            <a:pPr algn="l"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設計にしている。共通課題比率、レビュー回数、スコープ切りは月次で調整可能。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6916400" y="10001707"/>
            <a:ext cx="6099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A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 / 13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73149132376c61bb4f0a4ff9af93616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914400"/>
            <a:ext cx="609905" cy="384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3715207"/>
            <a:ext cx="3066898" cy="4067251"/>
          </a:xfrm>
          <a:prstGeom prst="rect">
            <a:avLst/>
          </a:prstGeom>
          <a:solidFill>
            <a:srgbClr val="FBFAF6"/>
          </a:solidFill>
          <a:ln w="12700">
            <a:solidFill>
              <a:srgbClr val="CFD6E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" y="3715207"/>
            <a:ext cx="3066898" cy="57607"/>
          </a:xfrm>
          <a:prstGeom prst="rect">
            <a:avLst/>
          </a:prstGeom>
          <a:solidFill>
            <a:srgbClr val="B8722E"/>
          </a:solidFill>
          <a:ln w="12700">
            <a:solidFill>
              <a:srgbClr val="B8722E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304995" y="3715207"/>
            <a:ext cx="3066898" cy="4067251"/>
          </a:xfrm>
          <a:prstGeom prst="rect">
            <a:avLst/>
          </a:prstGeom>
          <a:solidFill>
            <a:srgbClr val="FBFAF6"/>
          </a:solidFill>
          <a:ln w="12700">
            <a:solidFill>
              <a:srgbClr val="CFD6E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304995" y="3715207"/>
            <a:ext cx="3066898" cy="57607"/>
          </a:xfrm>
          <a:prstGeom prst="rect">
            <a:avLst/>
          </a:prstGeom>
          <a:solidFill>
            <a:srgbClr val="B8722E"/>
          </a:solidFill>
          <a:ln w="12700">
            <a:solidFill>
              <a:srgbClr val="B8722E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67905" y="3715207"/>
            <a:ext cx="3066898" cy="4067251"/>
          </a:xfrm>
          <a:prstGeom prst="rect">
            <a:avLst/>
          </a:prstGeom>
          <a:solidFill>
            <a:srgbClr val="FBFAF6"/>
          </a:solidFill>
          <a:ln w="12700">
            <a:solidFill>
              <a:srgbClr val="CFD6E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67905" y="3715207"/>
            <a:ext cx="3066898" cy="57607"/>
          </a:xfrm>
          <a:prstGeom prst="rect">
            <a:avLst/>
          </a:prstGeom>
          <a:solidFill>
            <a:srgbClr val="B8722E"/>
          </a:solidFill>
          <a:ln w="12700">
            <a:solidFill>
              <a:srgbClr val="B8722E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629900" y="3715207"/>
            <a:ext cx="3066898" cy="4067251"/>
          </a:xfrm>
          <a:prstGeom prst="rect">
            <a:avLst/>
          </a:prstGeom>
          <a:solidFill>
            <a:srgbClr val="FBFAF6"/>
          </a:solidFill>
          <a:ln w="12700">
            <a:solidFill>
              <a:srgbClr val="CFD6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629900" y="3715207"/>
            <a:ext cx="3066898" cy="57607"/>
          </a:xfrm>
          <a:prstGeom prst="rect">
            <a:avLst/>
          </a:prstGeom>
          <a:solidFill>
            <a:srgbClr val="B8722E"/>
          </a:solidFill>
          <a:ln w="12700">
            <a:solidFill>
              <a:srgbClr val="B8722E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791895" y="3715207"/>
            <a:ext cx="3353105" cy="4058107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12" name="Shape 9"/>
          <p:cNvSpPr/>
          <p:nvPr/>
        </p:nvSpPr>
        <p:spPr>
          <a:xfrm>
            <a:off x="13791895" y="3715207"/>
            <a:ext cx="3353105" cy="57607"/>
          </a:xfrm>
          <a:prstGeom prst="rect">
            <a:avLst/>
          </a:prstGeom>
          <a:solidFill>
            <a:srgbClr val="B8722E"/>
          </a:solidFill>
          <a:ln w="12700">
            <a:solidFill>
              <a:srgbClr val="B8722E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43000" y="8096098"/>
            <a:ext cx="16059607" cy="1429207"/>
          </a:xfrm>
          <a:prstGeom prst="rect">
            <a:avLst/>
          </a:prstGeom>
          <a:solidFill>
            <a:srgbClr val="F6F2E9"/>
          </a:solidFill>
          <a:ln/>
        </p:spPr>
      </p:sp>
      <p:sp>
        <p:nvSpPr>
          <p:cNvPr id="14" name="Shape 11"/>
          <p:cNvSpPr/>
          <p:nvPr/>
        </p:nvSpPr>
        <p:spPr>
          <a:xfrm>
            <a:off x="1143000" y="8096098"/>
            <a:ext cx="57607" cy="1429207"/>
          </a:xfrm>
          <a:prstGeom prst="rect">
            <a:avLst/>
          </a:prstGeom>
          <a:solidFill>
            <a:srgbClr val="B8722E"/>
          </a:solidFill>
          <a:ln w="12700">
            <a:solidFill>
              <a:srgbClr val="B8722E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143000" y="1123798"/>
            <a:ext cx="7620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308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 DELIVERABLES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1505102"/>
            <a:ext cx="15240305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68" kern="0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半年後、AISに何が残るか</a:t>
            </a:r>
            <a:endParaRPr lang="en-US" sz="3300" dirty="0"/>
          </a:p>
        </p:txBody>
      </p:sp>
      <p:sp>
        <p:nvSpPr>
          <p:cNvPr id="17" name="Text 14"/>
          <p:cNvSpPr txBox="1"/>
          <p:nvPr/>
        </p:nvSpPr>
        <p:spPr>
          <a:xfrm>
            <a:off x="1143000" y="2476195"/>
            <a:ext cx="16002000" cy="419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「1本の完成アプリ」の代わりに、</a:t>
            </a:r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5種類の資産をセットで残す</a:t>
            </a:r>
            <a:pPr algn="l" indent="0" marL="0"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。翌年度以降に再利用しやすい形で分解・蓄積される点が特徴。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80744" y="3952951"/>
            <a:ext cx="26673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B8722E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01</a:t>
            </a:r>
            <a:endParaRPr lang="en-US" sz="3800" dirty="0"/>
          </a:p>
        </p:txBody>
      </p:sp>
      <p:sp>
        <p:nvSpPr>
          <p:cNvPr id="19" name="Text 16"/>
          <p:cNvSpPr txBox="1"/>
          <p:nvPr/>
        </p:nvSpPr>
        <p:spPr>
          <a:xfrm>
            <a:off x="1380744" y="4550054"/>
            <a:ext cx="266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BASE APP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380744" y="4807001"/>
            <a:ext cx="2667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素体アプリ本体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1380744" y="5283403"/>
            <a:ext cx="2667305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翌年度以降も再利用可能な、宿泊予約サービスの土台。ガワの差し替えは可能。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543654" y="3952951"/>
            <a:ext cx="26673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B8722E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02</a:t>
            </a:r>
            <a:endParaRPr lang="en-US" sz="3800" dirty="0"/>
          </a:p>
        </p:txBody>
      </p:sp>
      <p:sp>
        <p:nvSpPr>
          <p:cNvPr id="23" name="Text 20"/>
          <p:cNvSpPr txBox="1"/>
          <p:nvPr/>
        </p:nvSpPr>
        <p:spPr>
          <a:xfrm>
            <a:off x="4543654" y="4550054"/>
            <a:ext cx="266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 FEATURES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4543654" y="4807001"/>
            <a:ext cx="2667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AI機能群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4543654" y="5283403"/>
            <a:ext cx="2667305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各メンバーが月次で追加した複数のAI機能。動作するコードとして残る。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705649" y="3952951"/>
            <a:ext cx="26673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B8722E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03</a:t>
            </a:r>
            <a:endParaRPr lang="en-US" sz="3800" dirty="0"/>
          </a:p>
        </p:txBody>
      </p:sp>
      <p:sp>
        <p:nvSpPr>
          <p:cNvPr id="27" name="Text 24"/>
          <p:cNvSpPr txBox="1"/>
          <p:nvPr/>
        </p:nvSpPr>
        <p:spPr>
          <a:xfrm>
            <a:off x="7705649" y="4550054"/>
            <a:ext cx="266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DESIGN INTENT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7705649" y="4807001"/>
            <a:ext cx="2667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実装意図の記録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7705649" y="5283403"/>
            <a:ext cx="2667305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「なぜこの機能を、この形で作ったか」の言語化。コードだけでは残らない設計判断を保存する。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10867644" y="3952951"/>
            <a:ext cx="2667305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B8722E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04</a:t>
            </a:r>
            <a:endParaRPr lang="en-US" sz="3800" dirty="0"/>
          </a:p>
        </p:txBody>
      </p:sp>
      <p:sp>
        <p:nvSpPr>
          <p:cNvPr id="31" name="Text 28"/>
          <p:cNvSpPr txBox="1"/>
          <p:nvPr/>
        </p:nvSpPr>
        <p:spPr>
          <a:xfrm>
            <a:off x="10867644" y="4550054"/>
            <a:ext cx="26673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LEARNING NOTES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10867644" y="4807001"/>
            <a:ext cx="2667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学習資料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10867644" y="5283403"/>
            <a:ext cx="2667305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月次発表資料、参考リンク、学習ポイントの整理。個人の学びをチームに開く。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4030554" y="3952951"/>
            <a:ext cx="2876702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D99A5B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05</a:t>
            </a:r>
            <a:endParaRPr lang="en-US" sz="3800" dirty="0"/>
          </a:p>
        </p:txBody>
      </p:sp>
      <p:sp>
        <p:nvSpPr>
          <p:cNvPr id="35" name="Text 32"/>
          <p:cNvSpPr txBox="1"/>
          <p:nvPr/>
        </p:nvSpPr>
        <p:spPr>
          <a:xfrm>
            <a:off x="14030554" y="4550054"/>
            <a:ext cx="2876702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220" kern="0" dirty="0">
                <a:solidFill>
                  <a:srgbClr val="D99A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TRAINING MATERIAL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14030554" y="4807001"/>
            <a:ext cx="287670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翌年度研修用教材</a:t>
            </a:r>
            <a:endParaRPr 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14030554" y="5283403"/>
            <a:ext cx="287670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3E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課題説明・実装手順・参考実装まで含めた教材セット。</a:t>
            </a:r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出口として設計</a:t>
            </a:r>
            <a:pPr algn="l" indent="0" marL="0">
              <a:buNone/>
            </a:pPr>
            <a:r>
              <a:rPr lang="en-US" sz="1300" dirty="0">
                <a:solidFill>
                  <a:srgbClr val="C9D3E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1524305" y="8305495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88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EDUCATIONAL ROI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1524305" y="8610905"/>
            <a:ext cx="3810305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約 2 人月</a:t>
            </a:r>
            <a:endParaRPr lang="en-US" sz="4400" dirty="0"/>
          </a:p>
        </p:txBody>
      </p:sp>
      <p:sp>
        <p:nvSpPr>
          <p:cNvPr id="40" name="Text 37"/>
          <p:cNvSpPr txBox="1"/>
          <p:nvPr/>
        </p:nvSpPr>
        <p:spPr>
          <a:xfrm>
            <a:off x="1524305" y="9226296"/>
            <a:ext cx="3810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新入社員換算での教材ボリューム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6096305" y="8330184"/>
            <a:ext cx="10858500" cy="719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15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1機能あたり約8〜10時間の実装 ≒ 新入社員換算で約2日分の演習量。</a:t>
            </a:r>
            <a:pPr algn="l" indent="0" marL="0">
              <a:lnSpc>
                <a:spcPts val="2625"/>
              </a:lnSpc>
              <a:buNone/>
            </a:pPr>
            <a:endParaRPr lang="en-US" sz="1500" dirty="0"/>
          </a:p>
          <a:p>
            <a:pPr algn="l" indent="0" marL="0">
              <a:lnSpc>
                <a:spcPts val="2625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AISメンバー4名 × 半年</a:t>
            </a:r>
            <a:pPr algn="l" indent="0" marL="0">
              <a:lnSpc>
                <a:spcPts val="2625"/>
              </a:lnSpc>
              <a:buNone/>
            </a:pPr>
            <a:r>
              <a:rPr lang="en-US" sz="15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で積み上げると、翌年度に </a:t>
            </a:r>
            <a:pPr algn="l" indent="0" marL="0">
              <a:lnSpc>
                <a:spcPts val="2625"/>
              </a:lnSpc>
              <a:buNone/>
            </a:pPr>
            <a:r>
              <a:rPr lang="en-US" sz="1500" b="1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約2人月分</a:t>
            </a:r>
            <a:pPr algn="l" indent="0" marL="0">
              <a:lnSpc>
                <a:spcPts val="2625"/>
              </a:lnSpc>
              <a:buNone/>
            </a:pPr>
            <a:r>
              <a:rPr lang="en-US" sz="15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の教材が残る想定。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16916400" y="10001707"/>
            <a:ext cx="6099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A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 / 13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73149132376c61bb4f0a4ff9af93616.png">    </p:cNvPr>
          <p:cNvPicPr>
            <a:picLocks noChangeAspect="1"/>
          </p:cNvPicPr>
          <p:nvPr/>
        </p:nvPicPr>
        <p:blipFill>
          <a:blip r:embed="rId1"/>
          <a:srcRect l="0" r="0" t="-375" b="-375"/>
          <a:stretch/>
        </p:blipFill>
        <p:spPr>
          <a:xfrm>
            <a:off x="1143000" y="914400"/>
            <a:ext cx="609905" cy="384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143000" y="4000500"/>
            <a:ext cx="4972507" cy="4019702"/>
          </a:xfrm>
          <a:prstGeom prst="rect">
            <a:avLst/>
          </a:prstGeom>
          <a:solidFill>
            <a:srgbClr val="FBFAF6"/>
          </a:solidFill>
          <a:ln w="12700">
            <a:solidFill>
              <a:srgbClr val="CFD6E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620256" y="4000500"/>
            <a:ext cx="4972507" cy="4019702"/>
          </a:xfrm>
          <a:prstGeom prst="rect">
            <a:avLst/>
          </a:prstGeom>
          <a:solidFill>
            <a:srgbClr val="FBFAF6"/>
          </a:solidFill>
          <a:ln w="12700">
            <a:solidFill>
              <a:srgbClr val="CFD6E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096598" y="4000500"/>
            <a:ext cx="5048402" cy="4000500"/>
          </a:xfrm>
          <a:prstGeom prst="rect">
            <a:avLst/>
          </a:prstGeom>
          <a:solidFill>
            <a:srgbClr val="0F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43000" y="4000500"/>
            <a:ext cx="4953305" cy="800100"/>
          </a:xfrm>
          <a:prstGeom prst="rect">
            <a:avLst/>
          </a:prstGeom>
          <a:solidFill>
            <a:srgbClr val="B872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20256" y="4000500"/>
            <a:ext cx="4953305" cy="800100"/>
          </a:xfrm>
          <a:prstGeom prst="rect">
            <a:avLst/>
          </a:prstGeom>
          <a:solidFill>
            <a:srgbClr val="2B477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96598" y="4000500"/>
            <a:ext cx="5048402" cy="800100"/>
          </a:xfrm>
          <a:prstGeom prst="rect">
            <a:avLst/>
          </a:prstGeom>
          <a:solidFill>
            <a:srgbClr val="14213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143000" y="1123798"/>
            <a:ext cx="7620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b="1" spc="308" kern="0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 YEAR ON YEAR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505102"/>
            <a:ext cx="15240305" cy="5431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68" kern="0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翌年度以降 — ガワは変えても、技術コアは残り続ける</a:t>
            </a:r>
            <a:endParaRPr lang="en-US" sz="33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2415845"/>
            <a:ext cx="16002000" cy="889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30"/>
              </a:lnSpc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題材を年ごとに差し替えても、</a:t>
            </a:r>
            <a:pPr algn="l" indent="0" marL="0">
              <a:lnSpc>
                <a:spcPts val="323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検索・推薦・要約・分類・生成・予測</a:t>
            </a:r>
            <a:pPr algn="l" indent="0" marL="0">
              <a:lnSpc>
                <a:spcPts val="3230"/>
              </a:lnSpc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という技術コアは共通。</a:t>
            </a:r>
            <a:pPr algn="l" indent="0" marL="0">
              <a:lnSpc>
                <a:spcPts val="3230"/>
              </a:lnSpc>
              <a:buNone/>
            </a:pPr>
            <a:endParaRPr lang="en-US" sz="1800" dirty="0"/>
          </a:p>
          <a:p>
            <a:pPr algn="l" indent="0" marL="0">
              <a:lnSpc>
                <a:spcPts val="3230"/>
              </a:lnSpc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前年の参加者が翌年の支援者になる、</a:t>
            </a:r>
            <a:pPr algn="l" indent="0" marL="0">
              <a:lnSpc>
                <a:spcPts val="3230"/>
              </a:lnSpc>
              <a:buNone/>
            </a:pPr>
            <a:r>
              <a:rPr lang="en-US" sz="1800" b="1" dirty="0">
                <a:solidFill>
                  <a:srgbClr val="B8722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年次をまたぐ育成循環</a:t>
            </a:r>
            <a:pPr algn="l" indent="0" marL="0">
              <a:lnSpc>
                <a:spcPts val="3230"/>
              </a:lnSpc>
              <a:buNone/>
            </a:pPr>
            <a:r>
              <a:rPr lang="en-US" sz="18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を作る。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29207" y="4134002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64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YEAR 1 — 今年度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429207" y="4419295"/>
            <a:ext cx="4572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土台をつくる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429207" y="5048402"/>
            <a:ext cx="4572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78" kern="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題材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429207" y="5324551"/>
            <a:ext cx="45720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宿泊予約サービス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429207" y="5790895"/>
            <a:ext cx="4572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78" kern="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参加者の役割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429207" y="6022238"/>
            <a:ext cx="4572000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AISメンバーがAI機能を実装。</a:t>
            </a:r>
            <a:pPr algn="l" indent="0" marL="0">
              <a:lnSpc>
                <a:spcPts val="2380"/>
              </a:lnSpc>
              <a:buNone/>
            </a:pPr>
            <a:endParaRPr lang="en-US" sz="14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成果を教材化して残す。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1429207" y="6804965"/>
            <a:ext cx="4572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78" kern="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残る資産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429207" y="7036308"/>
            <a:ext cx="4572000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素体 + AI機能群 + 教材群</a:t>
            </a:r>
            <a:pPr algn="l" indent="0" marL="0">
              <a:lnSpc>
                <a:spcPts val="2380"/>
              </a:lnSpc>
              <a:buNone/>
            </a:pPr>
            <a:endParaRPr lang="en-US" sz="14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（新入社員換算 約2人月分）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143854" y="5810098"/>
            <a:ext cx="571500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8722E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→</a:t>
            </a:r>
            <a:endParaRPr lang="en-US" sz="4400" dirty="0"/>
          </a:p>
        </p:txBody>
      </p:sp>
      <p:sp>
        <p:nvSpPr>
          <p:cNvPr id="21" name="Text 18"/>
          <p:cNvSpPr txBox="1"/>
          <p:nvPr/>
        </p:nvSpPr>
        <p:spPr>
          <a:xfrm>
            <a:off x="6905549" y="4134002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64" kern="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YEAR 2 — 翌年度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905549" y="4419295"/>
            <a:ext cx="4572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循環をはじめる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6905549" y="5048402"/>
            <a:ext cx="4572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78" kern="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題材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905549" y="5324551"/>
            <a:ext cx="457200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別ドメインへ差し替え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905549" y="5676595"/>
            <a:ext cx="4572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EC / 住宅情報 / 就職 …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6905549" y="5991149"/>
            <a:ext cx="4572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78" kern="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参加者の役割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905549" y="6222492"/>
            <a:ext cx="4572000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前年の参加者 = 支援者・指導役。</a:t>
            </a:r>
            <a:pPr algn="l" indent="0" marL="0">
              <a:lnSpc>
                <a:spcPts val="2380"/>
              </a:lnSpc>
              <a:buNone/>
            </a:pPr>
            <a:endParaRPr lang="en-US" sz="14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新入社員 = 前年課題の追体験。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905549" y="6986016"/>
            <a:ext cx="457200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78" kern="0" dirty="0">
                <a:solidFill>
                  <a:srgbClr val="5B647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再利用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905549" y="7217359"/>
            <a:ext cx="4572000" cy="65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技術コアは共通のため、</a:t>
            </a:r>
            <a:pPr algn="l" indent="0" marL="0">
              <a:lnSpc>
                <a:spcPts val="2380"/>
              </a:lnSpc>
              <a:buNone/>
            </a:pPr>
            <a:endParaRPr lang="en-US" sz="1400" dirty="0"/>
          </a:p>
          <a:p>
            <a:pPr algn="l" indent="0" marL="0">
              <a:lnSpc>
                <a:spcPts val="2380"/>
              </a:lnSpc>
              <a:buNone/>
            </a:pPr>
            <a:r>
              <a:rPr lang="en-US" sz="1400" dirty="0">
                <a:solidFill>
                  <a:srgbClr val="2F3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1年目の学びがそのまま資産に。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1620195" y="5810098"/>
            <a:ext cx="571500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8722E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→</a:t>
            </a:r>
            <a:endParaRPr lang="en-US" sz="4400" dirty="0"/>
          </a:p>
        </p:txBody>
      </p:sp>
      <p:sp>
        <p:nvSpPr>
          <p:cNvPr id="31" name="Text 28"/>
          <p:cNvSpPr txBox="1"/>
          <p:nvPr/>
        </p:nvSpPr>
        <p:spPr>
          <a:xfrm>
            <a:off x="12382805" y="4134002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64" kern="0" dirty="0">
                <a:solidFill>
                  <a:srgbClr val="D99A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YEAR 3+ — 継続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12382805" y="4419295"/>
            <a:ext cx="45720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深さを増していく</a:t>
            </a:r>
            <a:endParaRPr 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12382805" y="5048402"/>
            <a:ext cx="46680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78" kern="0" dirty="0">
                <a:solidFill>
                  <a:srgbClr val="D99A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題材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12382805" y="5324551"/>
            <a:ext cx="4668012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さらに別ドメインへ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12382805" y="5790895"/>
            <a:ext cx="46680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78" kern="0" dirty="0">
                <a:solidFill>
                  <a:srgbClr val="D99A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深化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12382805" y="6067044"/>
            <a:ext cx="46680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FE6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2年目参加者は、より高度な機能に挑戦。同じコアの別角度を積み重ねる。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2382805" y="6804965"/>
            <a:ext cx="4668012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78" kern="0" dirty="0">
                <a:solidFill>
                  <a:srgbClr val="D99A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耐性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12382805" y="7081114"/>
            <a:ext cx="46680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FE6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新入社員が来ない年でも、既存メンバーの再学習・部内勉強会に転用可能。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1143000" y="8572500"/>
            <a:ext cx="16002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「毎年ガワを変えても、技術コアは再利用できる」 — これが、この方式を </a:t>
            </a:r>
            <a:pPr algn="ctr" indent="0" marL="0">
              <a:buNone/>
            </a:pPr>
            <a:r>
              <a:rPr lang="en-US" sz="2100" b="1" dirty="0">
                <a:solidFill>
                  <a:srgbClr val="B8722E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単年施策で終わらせない</a:t>
            </a:r>
            <a:pPr algn="ctr" indent="0" marL="0">
              <a:buNone/>
            </a:pPr>
            <a:r>
              <a:rPr lang="en-US" sz="2200" b="1" dirty="0">
                <a:solidFill>
                  <a:srgbClr val="14213D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 根拠。</a:t>
            </a:r>
            <a:endParaRPr lang="en-US" sz="2100" dirty="0"/>
          </a:p>
        </p:txBody>
      </p:sp>
      <p:sp>
        <p:nvSpPr>
          <p:cNvPr id="40" name="Text 37"/>
          <p:cNvSpPr txBox="1"/>
          <p:nvPr/>
        </p:nvSpPr>
        <p:spPr>
          <a:xfrm>
            <a:off x="16916400" y="10001707"/>
            <a:ext cx="6099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2A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 / 13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9b094478f2e63c7b0b2423fc3fc4f25a.png">    </p:cNvPr>
          <p:cNvPicPr>
            <a:picLocks noChangeAspect="1"/>
          </p:cNvPicPr>
          <p:nvPr/>
        </p:nvPicPr>
        <p:blipFill>
          <a:blip r:embed="rId1"/>
          <a:srcRect l="0" r="0" t="-400" b="-400"/>
          <a:stretch/>
        </p:blipFill>
        <p:spPr>
          <a:xfrm>
            <a:off x="1143000" y="1143000"/>
            <a:ext cx="914400" cy="57607"/>
          </a:xfrm>
          <a:prstGeom prst="rect">
            <a:avLst/>
          </a:prstGeom>
        </p:spPr>
      </p:pic>
      <p:pic>
        <p:nvPicPr>
          <p:cNvPr id="3" name="Image 1" descr="gen-dedup-8b7335f3bea1b37908fb7dad94b59fff.png">    </p:cNvPr>
          <p:cNvPicPr>
            <a:picLocks noChangeAspect="1"/>
          </p:cNvPicPr>
          <p:nvPr/>
        </p:nvPicPr>
        <p:blipFill>
          <a:blip r:embed="rId2"/>
          <a:srcRect l="-2083" r="-2083" t="0" b="0"/>
          <a:stretch/>
        </p:blipFill>
        <p:spPr>
          <a:xfrm>
            <a:off x="1143000" y="5048402"/>
            <a:ext cx="16002000" cy="9144"/>
          </a:xfrm>
          <a:prstGeom prst="rect">
            <a:avLst/>
          </a:prstGeom>
        </p:spPr>
      </p:pic>
      <p:pic>
        <p:nvPicPr>
          <p:cNvPr id="4" name="Image 2" descr="gen-dedup-8b7335f3bea1b37908fb7dad94b59fff.png">    </p:cNvPr>
          <p:cNvPicPr>
            <a:picLocks noChangeAspect="1"/>
          </p:cNvPicPr>
          <p:nvPr/>
        </p:nvPicPr>
        <p:blipFill>
          <a:blip r:embed="rId3"/>
          <a:srcRect l="-2083" r="-2083" t="0" b="0"/>
          <a:stretch/>
        </p:blipFill>
        <p:spPr>
          <a:xfrm>
            <a:off x="1143000" y="8287207"/>
            <a:ext cx="16002000" cy="91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143000" y="1524305"/>
            <a:ext cx="7620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384" kern="0" dirty="0">
                <a:solidFill>
                  <a:srgbClr val="D99A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 CLOSING</a:t>
            </a:r>
            <a:endParaRPr lang="en-US" sz="1200" dirty="0"/>
          </a:p>
        </p:txBody>
      </p:sp>
      <p:sp>
        <p:nvSpPr>
          <p:cNvPr id="6" name="Text 1"/>
          <p:cNvSpPr txBox="1"/>
          <p:nvPr/>
        </p:nvSpPr>
        <p:spPr>
          <a:xfrm>
            <a:off x="1143000" y="2095805"/>
            <a:ext cx="16002000" cy="165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spc="104" kern="0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1本を完成させる半年から、</a:t>
            </a:r>
            <a:pPr algn="l" indent="0" marL="0">
              <a:buNone/>
            </a:pPr>
            <a:endParaRPr lang="en-US" sz="5100" dirty="0"/>
          </a:p>
          <a:p>
            <a:pPr algn="l" indent="0" marL="0">
              <a:buNone/>
            </a:pPr>
            <a:r>
              <a:rPr lang="en-US" sz="5100" b="1" spc="104" kern="0" dirty="0">
                <a:solidFill>
                  <a:srgbClr val="D99A5B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全員のAI実装経験と教材群を残す半年へ。</a:t>
            </a:r>
            <a:endParaRPr lang="en-US" sz="5100" dirty="0"/>
          </a:p>
        </p:txBody>
      </p:sp>
      <p:sp>
        <p:nvSpPr>
          <p:cNvPr id="7" name="Text 2"/>
          <p:cNvSpPr txBox="1"/>
          <p:nvPr/>
        </p:nvSpPr>
        <p:spPr>
          <a:xfrm>
            <a:off x="1143000" y="5429707"/>
            <a:ext cx="4953305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9A5B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01</a:t>
            </a:r>
            <a:endParaRPr lang="en-US" sz="4400" dirty="0"/>
          </a:p>
        </p:txBody>
      </p:sp>
      <p:sp>
        <p:nvSpPr>
          <p:cNvPr id="8" name="Text 3"/>
          <p:cNvSpPr txBox="1"/>
          <p:nvPr/>
        </p:nvSpPr>
        <p:spPr>
          <a:xfrm>
            <a:off x="1143000" y="6140196"/>
            <a:ext cx="49533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60" kern="0" dirty="0">
                <a:solidFill>
                  <a:srgbClr val="D99A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妥当性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1143000" y="6454750"/>
            <a:ext cx="495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昨年度の反省に基づく設計</a:t>
            </a:r>
            <a:endParaRPr lang="en-US" sz="2100" dirty="0"/>
          </a:p>
        </p:txBody>
      </p:sp>
      <p:sp>
        <p:nvSpPr>
          <p:cNvPr id="10" name="Text 5"/>
          <p:cNvSpPr txBox="1"/>
          <p:nvPr/>
        </p:nvSpPr>
        <p:spPr>
          <a:xfrm>
            <a:off x="1143000" y="6960413"/>
            <a:ext cx="4953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3E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多様な強みが最大公約数に埋没した構造を、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全員がAIに触れる構造</a:t>
            </a:r>
            <a:pPr algn="l" indent="0" marL="0">
              <a:buNone/>
            </a:pPr>
            <a:r>
              <a:rPr lang="en-US" sz="1400" dirty="0">
                <a:solidFill>
                  <a:srgbClr val="C9D3E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へ切り替える。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6667805" y="5429707"/>
            <a:ext cx="4953305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9A5B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02</a:t>
            </a:r>
            <a:endParaRPr lang="en-US" sz="4400" dirty="0"/>
          </a:p>
        </p:txBody>
      </p:sp>
      <p:sp>
        <p:nvSpPr>
          <p:cNvPr id="12" name="Text 7"/>
          <p:cNvSpPr txBox="1"/>
          <p:nvPr/>
        </p:nvSpPr>
        <p:spPr>
          <a:xfrm>
            <a:off x="6667805" y="6140196"/>
            <a:ext cx="49533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60" kern="0" dirty="0">
                <a:solidFill>
                  <a:srgbClr val="D99A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実行性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667805" y="6454750"/>
            <a:ext cx="495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1か月ごとに軌道修正できる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6667805" y="6960413"/>
            <a:ext cx="4953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3E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素体はすでに完成、月次サイクルで運用。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問題が見えれば翌月から調整</a:t>
            </a:r>
            <a:pPr algn="l" indent="0" marL="0">
              <a:buNone/>
            </a:pPr>
            <a:r>
              <a:rPr lang="en-US" sz="1400" dirty="0">
                <a:solidFill>
                  <a:srgbClr val="C9D3E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可能。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2191695" y="5429707"/>
            <a:ext cx="4953305" cy="5623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9A5B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03</a:t>
            </a:r>
            <a:endParaRPr lang="en-US" sz="4400" dirty="0"/>
          </a:p>
        </p:txBody>
      </p:sp>
      <p:sp>
        <p:nvSpPr>
          <p:cNvPr id="16" name="Text 11"/>
          <p:cNvSpPr txBox="1"/>
          <p:nvPr/>
        </p:nvSpPr>
        <p:spPr>
          <a:xfrm>
            <a:off x="12191695" y="6140196"/>
            <a:ext cx="49533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spc="260" kern="0" dirty="0">
                <a:solidFill>
                  <a:srgbClr val="D99A5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教育的意義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2191695" y="6454750"/>
            <a:ext cx="4953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翌年度以降に残る教材資産</a:t>
            </a:r>
            <a:endParaRPr lang="en-US" sz="2100" dirty="0"/>
          </a:p>
        </p:txBody>
      </p:sp>
      <p:sp>
        <p:nvSpPr>
          <p:cNvPr id="18" name="Text 13"/>
          <p:cNvSpPr txBox="1"/>
          <p:nvPr/>
        </p:nvSpPr>
        <p:spPr>
          <a:xfrm>
            <a:off x="12191695" y="6960413"/>
            <a:ext cx="4953305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9D3E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素体 + AI機能 + 実装意図 + 学習資料 + 研修教材。</a:t>
            </a:r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単年で終わらない</a:t>
            </a:r>
            <a:pPr algn="l" indent="0" marL="0">
              <a:buNone/>
            </a:pPr>
            <a:r>
              <a:rPr lang="en-US" sz="1400" dirty="0">
                <a:solidFill>
                  <a:srgbClr val="C9D3E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構造。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" y="8620049"/>
            <a:ext cx="16002000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同じ半年・同じ工数で、</a:t>
            </a:r>
            <a:pPr algn="l" indent="0" marL="0">
              <a:buNone/>
            </a:pPr>
            <a:r>
              <a:rPr lang="en-US" sz="2100" b="1" dirty="0">
                <a:solidFill>
                  <a:srgbClr val="D99A5B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AISに残る「経験」と「教材」を最大化する</a:t>
            </a:r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erif JP" pitchFamily="34" charset="0"/>
                <a:ea typeface="Noto Serif JP" pitchFamily="34" charset="-122"/>
                <a:cs typeface="Noto Serif JP" pitchFamily="34" charset="-120"/>
              </a:rPr>
              <a:t> 提案として、実施のご承認をお願いします。</a:t>
            </a:r>
            <a:endParaRPr lang="en-US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9715500"/>
            <a:ext cx="762061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00" spc="176" kern="0" dirty="0">
                <a:solidFill>
                  <a:srgbClr val="8EA1B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AIS / FY2026 自社開発活動提案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16383305" y="9715500"/>
            <a:ext cx="1143000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100" spc="154" kern="0" dirty="0">
                <a:solidFill>
                  <a:srgbClr val="8EA1B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 / 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2026-07-13T18:50:40Z</dcterms:created>
  <dcterms:modified xsi:type="dcterms:W3CDTF">2026-07-13T18:50:40Z</dcterms:modified>
</cp:coreProperties>
</file>