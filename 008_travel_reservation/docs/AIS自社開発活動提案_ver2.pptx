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5a3e0123d72916249c8d16e0a4731b04.png">    </p:cNvPr>
          <p:cNvPicPr>
            <a:picLocks noChangeAspect="1"/>
          </p:cNvPicPr>
          <p:nvPr/>
        </p:nvPicPr>
        <p:blipFill>
          <a:blip r:embed="rId1"/>
          <a:srcRect l="0" r="0" t="-429" b="-429"/>
          <a:stretch/>
        </p:blipFill>
        <p:spPr>
          <a:xfrm>
            <a:off x="1524305" y="1524305"/>
            <a:ext cx="533095" cy="19202"/>
          </a:xfrm>
          <a:prstGeom prst="rect">
            <a:avLst/>
          </a:prstGeom>
        </p:spPr>
      </p:pic>
      <p:pic>
        <p:nvPicPr>
          <p:cNvPr id="3" name="Image 1" descr="gen-dedup-af2b78b11e98fc00d68924f395567925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524305" y="9144000"/>
            <a:ext cx="15240305" cy="91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524305" y="1809598"/>
            <a:ext cx="11430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spc="280" kern="0" dirty="0">
                <a:solidFill>
                  <a:srgbClr val="6B738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AIS 自社開発活動 / 2026年度 提案</a:t>
            </a:r>
            <a:endParaRPr lang="en-US" sz="1400" dirty="0"/>
          </a:p>
        </p:txBody>
      </p:sp>
      <p:sp>
        <p:nvSpPr>
          <p:cNvPr id="5" name="Text 1"/>
          <p:cNvSpPr txBox="1"/>
          <p:nvPr/>
        </p:nvSpPr>
        <p:spPr>
          <a:xfrm>
            <a:off x="1524305" y="3810305"/>
            <a:ext cx="15240305" cy="9628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600" b="1" spc="56" kern="0" dirty="0">
                <a:solidFill>
                  <a:srgbClr val="1E253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各自がAI機能を開発する半年間</a:t>
            </a:r>
            <a:endParaRPr lang="en-US" sz="5600" dirty="0"/>
          </a:p>
        </p:txBody>
      </p:sp>
      <p:sp>
        <p:nvSpPr>
          <p:cNvPr id="6" name="Text 2"/>
          <p:cNvSpPr txBox="1"/>
          <p:nvPr/>
        </p:nvSpPr>
        <p:spPr>
          <a:xfrm>
            <a:off x="1524305" y="5074920"/>
            <a:ext cx="15240305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6B738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昨年度の振り返りを踏まえた進め方について</a:t>
            </a:r>
            <a:endParaRPr lang="en-US" sz="2100" dirty="0"/>
          </a:p>
        </p:txBody>
      </p:sp>
      <p:sp>
        <p:nvSpPr>
          <p:cNvPr id="7" name="Text 3"/>
          <p:cNvSpPr txBox="1"/>
          <p:nvPr/>
        </p:nvSpPr>
        <p:spPr>
          <a:xfrm>
            <a:off x="1524305" y="9381744"/>
            <a:ext cx="7620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738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上長向け説明資料 | AIS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144000" y="9381744"/>
            <a:ext cx="7620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spc="96" kern="0" dirty="0">
                <a:solidFill>
                  <a:srgbClr val="6B738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期間：2026年10月〜2027年3月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2101095135d46fc53e1aed6213152e3.png">    </p:cNvPr>
          <p:cNvPicPr>
            <a:picLocks noChangeAspect="1"/>
          </p:cNvPicPr>
          <p:nvPr/>
        </p:nvPicPr>
        <p:blipFill>
          <a:blip r:embed="rId1"/>
          <a:srcRect l="0" r="0" t="-375" b="-375"/>
          <a:stretch/>
        </p:blipFill>
        <p:spPr>
          <a:xfrm>
            <a:off x="1524305" y="2476195"/>
            <a:ext cx="609905" cy="1920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524305" y="1143000"/>
            <a:ext cx="15240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spc="264" kern="0" dirty="0">
                <a:solidFill>
                  <a:srgbClr val="2538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524305" y="1524305"/>
            <a:ext cx="15240305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53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提案の要旨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1524305" y="3148279"/>
            <a:ext cx="15240305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2600" dirty="0">
                <a:solidFill>
                  <a:srgbClr val="1E253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2026年10月〜2027年3月の半年間、</a:t>
            </a:r>
            <a:pPr algn="l" indent="0" marL="0">
              <a:lnSpc>
                <a:spcPts val="4550"/>
              </a:lnSpc>
              <a:buNone/>
            </a:pPr>
            <a:endParaRPr lang="en-US" sz="2600" dirty="0"/>
          </a:p>
          <a:p>
            <a:pPr algn="l" indent="0" marL="0">
              <a:lnSpc>
                <a:spcPts val="4550"/>
              </a:lnSpc>
              <a:buNone/>
            </a:pPr>
            <a:r>
              <a:rPr lang="en-US" sz="2600" dirty="0">
                <a:solidFill>
                  <a:srgbClr val="1E253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素体アプリに対して、</a:t>
            </a:r>
            <a:pPr algn="l" indent="0" marL="0">
              <a:lnSpc>
                <a:spcPts val="4550"/>
              </a:lnSpc>
              <a:buNone/>
            </a:pPr>
            <a:r>
              <a:rPr lang="en-US" sz="2600" b="1" dirty="0">
                <a:solidFill>
                  <a:srgbClr val="1E253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AISメンバー各自がAI機能を追加する</a:t>
            </a:r>
            <a:pPr algn="l" indent="0" marL="0">
              <a:lnSpc>
                <a:spcPts val="4550"/>
              </a:lnSpc>
              <a:buNone/>
            </a:pPr>
            <a:r>
              <a:rPr lang="en-US" sz="2600" dirty="0">
                <a:solidFill>
                  <a:srgbClr val="1E253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形で活動を行いたい。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1524305" y="6096305"/>
            <a:ext cx="152403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D46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 昨年度は1本のアプリを共同で作ったが、AI実装経験が一部に偏った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524305" y="6576365"/>
            <a:ext cx="152403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D46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 今年度は「全員がAIに触れる」ことを優先し、各自1機能ずつ担当する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7056425"/>
            <a:ext cx="152403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D46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 成果は素体・機能・教材として残し、翌年度の育成に接続する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6383305" y="9715500"/>
            <a:ext cx="762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099A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 / 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2101095135d46fc53e1aed6213152e3.png">    </p:cNvPr>
          <p:cNvPicPr>
            <a:picLocks noChangeAspect="1"/>
          </p:cNvPicPr>
          <p:nvPr/>
        </p:nvPicPr>
        <p:blipFill>
          <a:blip r:embed="rId1"/>
          <a:srcRect l="0" r="0" t="-375" b="-375"/>
          <a:stretch/>
        </p:blipFill>
        <p:spPr>
          <a:xfrm>
            <a:off x="1524305" y="2476195"/>
            <a:ext cx="609905" cy="1920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524305" y="1143000"/>
            <a:ext cx="15240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spc="264" kern="0" dirty="0">
                <a:solidFill>
                  <a:srgbClr val="2538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524305" y="1524305"/>
            <a:ext cx="15240305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53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昨年度の進め方で見えたこと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1524305" y="3076956"/>
            <a:ext cx="15240305" cy="915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25"/>
              </a:lnSpc>
              <a:buNone/>
            </a:pPr>
            <a:r>
              <a:rPr lang="en-US" sz="1900" dirty="0">
                <a:solidFill>
                  <a:srgbClr val="6B738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昨年度は、限られた時間の中で1本のアプリを共同開発した。</a:t>
            </a:r>
            <a:pPr algn="l" indent="0" marL="0">
              <a:lnSpc>
                <a:spcPts val="3325"/>
              </a:lnSpc>
              <a:buNone/>
            </a:pPr>
            <a:endParaRPr lang="en-US" sz="1800" dirty="0"/>
          </a:p>
          <a:p>
            <a:pPr algn="l" indent="0" marL="0">
              <a:lnSpc>
                <a:spcPts val="3325"/>
              </a:lnSpc>
              <a:buNone/>
            </a:pPr>
            <a:r>
              <a:rPr lang="en-US" sz="1900" dirty="0">
                <a:solidFill>
                  <a:srgbClr val="6B738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リリースは達成できた一方で、進め方の面では以下の課題が残った。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904695" y="5333695"/>
            <a:ext cx="14859000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38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pPr algn="l" indent="0" marL="0">
              <a:buNone/>
            </a:pPr>
            <a:r>
              <a:rPr lang="en-US" sz="2000" dirty="0">
                <a:solidFill>
                  <a:srgbClr val="1E253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1人あたりの開発時間が月8〜10時間と短く、完成優先の運用になりやすい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904695" y="6051499"/>
            <a:ext cx="14859000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38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pPr algn="l" indent="0" marL="0">
              <a:buNone/>
            </a:pPr>
            <a:r>
              <a:rPr lang="en-US" sz="2000" dirty="0">
                <a:solidFill>
                  <a:srgbClr val="1E253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役割分担が固定化され、AI実装に深く関わるメンバーが一部に偏った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904695" y="6769303"/>
            <a:ext cx="14859000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38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pPr algn="l" indent="0" marL="0">
              <a:buNone/>
            </a:pPr>
            <a:r>
              <a:rPr lang="en-US" sz="2000" dirty="0">
                <a:solidFill>
                  <a:srgbClr val="1E253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各メンバーの強みや発想を、進め方の中で十分に活かしきれなかった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6383305" y="9715500"/>
            <a:ext cx="762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099A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 / 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2101095135d46fc53e1aed6213152e3.png">    </p:cNvPr>
          <p:cNvPicPr>
            <a:picLocks noChangeAspect="1"/>
          </p:cNvPicPr>
          <p:nvPr/>
        </p:nvPicPr>
        <p:blipFill>
          <a:blip r:embed="rId1"/>
          <a:srcRect l="0" r="0" t="-375" b="-375"/>
          <a:stretch/>
        </p:blipFill>
        <p:spPr>
          <a:xfrm>
            <a:off x="1524305" y="2476195"/>
            <a:ext cx="609905" cy="19202"/>
          </a:xfrm>
          <a:prstGeom prst="rect">
            <a:avLst/>
          </a:prstGeom>
        </p:spPr>
      </p:pic>
      <p:pic>
        <p:nvPicPr>
          <p:cNvPr id="3" name="Image 1" descr="gen-dedup-f85ae4315049a3ac0f81448d88c7db6d.png">    </p:cNvPr>
          <p:cNvPicPr>
            <a:picLocks noChangeAspect="1"/>
          </p:cNvPicPr>
          <p:nvPr/>
        </p:nvPicPr>
        <p:blipFill>
          <a:blip r:embed="rId2"/>
          <a:srcRect l="0" r="0" t="-2089" b="-2089"/>
          <a:stretch/>
        </p:blipFill>
        <p:spPr>
          <a:xfrm>
            <a:off x="6858000" y="4667098"/>
            <a:ext cx="9144" cy="2667305"/>
          </a:xfrm>
          <a:prstGeom prst="rect">
            <a:avLst/>
          </a:prstGeom>
        </p:spPr>
      </p:pic>
      <p:pic>
        <p:nvPicPr>
          <p:cNvPr id="4" name="Image 2" descr="gen-dedup-f85ae4315049a3ac0f81448d88c7db6d.png">    </p:cNvPr>
          <p:cNvPicPr>
            <a:picLocks noChangeAspect="1"/>
          </p:cNvPicPr>
          <p:nvPr/>
        </p:nvPicPr>
        <p:blipFill>
          <a:blip r:embed="rId3"/>
          <a:srcRect l="0" r="0" t="-2089" b="-2089"/>
          <a:stretch/>
        </p:blipFill>
        <p:spPr>
          <a:xfrm>
            <a:off x="11811305" y="4667098"/>
            <a:ext cx="9144" cy="2667305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524305" y="1143000"/>
            <a:ext cx="15240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spc="264" kern="0" dirty="0">
                <a:solidFill>
                  <a:srgbClr val="2538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Text 1"/>
          <p:cNvSpPr txBox="1"/>
          <p:nvPr/>
        </p:nvSpPr>
        <p:spPr>
          <a:xfrm>
            <a:off x="1524305" y="1524305"/>
            <a:ext cx="15240305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53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今年度の基本方針</a:t>
            </a:r>
            <a:endParaRPr lang="en-US" sz="3800" dirty="0"/>
          </a:p>
        </p:txBody>
      </p:sp>
      <p:sp>
        <p:nvSpPr>
          <p:cNvPr id="7" name="Text 2"/>
          <p:cNvSpPr txBox="1"/>
          <p:nvPr/>
        </p:nvSpPr>
        <p:spPr>
          <a:xfrm>
            <a:off x="1524305" y="3143707"/>
            <a:ext cx="15240305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B738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今年度は「1本を完成させる」より「全員がAIに触れる」ことを優先する。</a:t>
            </a:r>
            <a:endParaRPr lang="en-US" sz="1800" dirty="0"/>
          </a:p>
        </p:txBody>
      </p:sp>
      <p:sp>
        <p:nvSpPr>
          <p:cNvPr id="8" name="Text 3"/>
          <p:cNvSpPr txBox="1"/>
          <p:nvPr/>
        </p:nvSpPr>
        <p:spPr>
          <a:xfrm>
            <a:off x="1524305" y="4476902"/>
            <a:ext cx="4953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16" kern="0" dirty="0">
                <a:solidFill>
                  <a:srgbClr val="2538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POLICY 01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1524305" y="4858207"/>
            <a:ext cx="49533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53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AI実装経験の平準化</a:t>
            </a:r>
            <a:endParaRPr lang="en-US" sz="2100" dirty="0"/>
          </a:p>
        </p:txBody>
      </p:sp>
      <p:sp>
        <p:nvSpPr>
          <p:cNvPr id="10" name="Text 5"/>
          <p:cNvSpPr txBox="1"/>
          <p:nvPr/>
        </p:nvSpPr>
        <p:spPr>
          <a:xfrm>
            <a:off x="1524305" y="5428793"/>
            <a:ext cx="49533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38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各自が1機能ずつ担当し、全員が自分の手でAI機能を作る経験を持つ。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7239305" y="4476902"/>
            <a:ext cx="4191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16" kern="0" dirty="0">
                <a:solidFill>
                  <a:srgbClr val="2538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POLICY 02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7239305" y="4858207"/>
            <a:ext cx="4191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53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月次で回す運用</a:t>
            </a:r>
            <a:endParaRPr lang="en-US" sz="2100" dirty="0"/>
          </a:p>
        </p:txBody>
      </p:sp>
      <p:sp>
        <p:nvSpPr>
          <p:cNvPr id="13" name="Text 8"/>
          <p:cNvSpPr txBox="1"/>
          <p:nvPr/>
        </p:nvSpPr>
        <p:spPr>
          <a:xfrm>
            <a:off x="7239305" y="5428793"/>
            <a:ext cx="41916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38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1か月で1機能を作り、発表・レビューを回す。問題があれば翌月に調整。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2191695" y="4476902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16" kern="0" dirty="0">
                <a:solidFill>
                  <a:srgbClr val="2538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POLICY 03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2191695" y="4858207"/>
            <a:ext cx="45720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53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完了条件は「説明できること」</a:t>
            </a:r>
            <a:endParaRPr lang="en-US" sz="2100" dirty="0"/>
          </a:p>
        </p:txBody>
      </p:sp>
      <p:sp>
        <p:nvSpPr>
          <p:cNvPr id="16" name="Text 11"/>
          <p:cNvSpPr txBox="1"/>
          <p:nvPr/>
        </p:nvSpPr>
        <p:spPr>
          <a:xfrm>
            <a:off x="12191695" y="5428793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38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高度さではなく、動く・説明できる・教材に残せる、を完了の目安にする。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524305" y="8572500"/>
            <a:ext cx="15240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38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なお、Trelloでのタスク可視化・月次のふりかえりなどアジャイル的な要素は残す。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6383305" y="9715500"/>
            <a:ext cx="762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099A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 / 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2101095135d46fc53e1aed6213152e3.png">    </p:cNvPr>
          <p:cNvPicPr>
            <a:picLocks noChangeAspect="1"/>
          </p:cNvPicPr>
          <p:nvPr/>
        </p:nvPicPr>
        <p:blipFill>
          <a:blip r:embed="rId1"/>
          <a:srcRect l="0" r="0" t="-375" b="-375"/>
          <a:stretch/>
        </p:blipFill>
        <p:spPr>
          <a:xfrm>
            <a:off x="1524305" y="2476195"/>
            <a:ext cx="609905" cy="1920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524305" y="1143000"/>
            <a:ext cx="15240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spc="264" kern="0" dirty="0">
                <a:solidFill>
                  <a:srgbClr val="2538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524305" y="1524305"/>
            <a:ext cx="15240305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53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昨年度と今年度の違い</a:t>
            </a:r>
            <a:endParaRPr lang="en-US" sz="3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4305" y="3429000"/>
          <a:ext cx="15240305" cy="3791102"/>
        </p:xfrm>
        <a:graphic>
          <a:graphicData uri="http://schemas.openxmlformats.org/drawingml/2006/table">
            <a:tbl>
              <a:tblPr/>
              <a:tblGrid>
                <a:gridCol w="2553005"/>
                <a:gridCol w="6497726"/>
                <a:gridCol w="6189574"/>
              </a:tblGrid>
              <a:tr h="758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B7385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観点</a:t>
                      </a:r>
                      <a:endParaRPr lang="en-US" sz="13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228600" marR="228600" marT="190195" marB="190195" anchor="ctr">
                    <a:lnL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6B7385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昨年度</a:t>
                      </a:r>
                      <a:endParaRPr lang="en-US" sz="15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228600" marR="228600" marT="190195" marB="190195" anchor="ctr">
                    <a:lnL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E253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今年度</a:t>
                      </a:r>
                      <a:endParaRPr lang="en-US" sz="15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228600" marR="228600" marT="190195" marB="190195" anchor="ctr">
                    <a:lnL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8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385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目的</a:t>
                      </a:r>
                      <a:endParaRPr lang="en-US" sz="16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228600" marR="228600" marT="228600" marB="228600" anchor="t">
                    <a:lnL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3D4657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1本のアプリを完成させる</a:t>
                      </a:r>
                      <a:endParaRPr lang="en-US" sz="17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228600" marR="228600" marT="228600" marB="228600" anchor="t">
                    <a:lnL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E253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全員がAI実装を経験する</a:t>
                      </a:r>
                      <a:endParaRPr lang="en-US" sz="17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228600" marR="228600" marT="228600" marB="228600" anchor="t">
                    <a:lnL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8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385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単位</a:t>
                      </a:r>
                      <a:endParaRPr lang="en-US" sz="16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228600" marR="228600" marT="228600" marB="228600" anchor="t">
                    <a:lnL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3D4657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チーム1つ / 成果物1つ</a:t>
                      </a:r>
                      <a:endParaRPr lang="en-US" sz="17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228600" marR="228600" marT="228600" marB="228600" anchor="t">
                    <a:lnL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E253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個人 × AI機能1つ / 月</a:t>
                      </a:r>
                      <a:endParaRPr lang="en-US" sz="17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228600" marR="228600" marT="228600" marB="228600" anchor="t">
                    <a:lnL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8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385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役割</a:t>
                      </a:r>
                      <a:endParaRPr lang="en-US" sz="16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228600" marR="228600" marT="228600" marB="228600" anchor="t">
                    <a:lnL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3D4657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FE / BE / AI に事実上固定</a:t>
                      </a:r>
                      <a:endParaRPr lang="en-US" sz="17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228600" marR="228600" marT="228600" marB="228600" anchor="t">
                    <a:lnL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E253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各自がテーマを選ぶ</a:t>
                      </a:r>
                      <a:endParaRPr lang="en-US" sz="17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228600" marR="228600" marT="228600" marB="228600" anchor="t">
                    <a:lnL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8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385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残るもの</a:t>
                      </a:r>
                      <a:endParaRPr lang="en-US" sz="16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228600" marR="228600" marT="228600" marB="228600" anchor="t">
                    <a:lnL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3D4657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完成アプリ 1本</a:t>
                      </a:r>
                      <a:endParaRPr lang="en-US" sz="17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228600" marR="228600" marT="228600" marB="228600" anchor="t">
                    <a:lnL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E253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素体 + AI機能群 + 教材群</a:t>
                      </a:r>
                      <a:endParaRPr lang="en-US" sz="17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228600" marR="228600" marT="228600" marB="228600" anchor="t">
                    <a:lnL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E25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16383305" y="9715500"/>
            <a:ext cx="762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099A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 / 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2101095135d46fc53e1aed6213152e3.png">    </p:cNvPr>
          <p:cNvPicPr>
            <a:picLocks noChangeAspect="1"/>
          </p:cNvPicPr>
          <p:nvPr/>
        </p:nvPicPr>
        <p:blipFill>
          <a:blip r:embed="rId1"/>
          <a:srcRect l="0" r="0" t="-375" b="-375"/>
          <a:stretch/>
        </p:blipFill>
        <p:spPr>
          <a:xfrm>
            <a:off x="1524305" y="2476195"/>
            <a:ext cx="609905" cy="19202"/>
          </a:xfrm>
          <a:prstGeom prst="rect">
            <a:avLst/>
          </a:prstGeom>
        </p:spPr>
      </p:pic>
      <p:pic>
        <p:nvPicPr>
          <p:cNvPr id="3" name="Image 1" descr="gen-dedup-af2b78b11e98fc00d68924f395567925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2190902" y="5905195"/>
            <a:ext cx="13906195" cy="914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2095805" y="5810098"/>
            <a:ext cx="190195" cy="190195"/>
          </a:xfrm>
          <a:prstGeom prst="ellipse">
            <a:avLst/>
          </a:prstGeom>
          <a:solidFill>
            <a:srgbClr val="25385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5619902" y="5810098"/>
            <a:ext cx="190195" cy="190195"/>
          </a:xfrm>
          <a:prstGeom prst="ellipse">
            <a:avLst/>
          </a:prstGeom>
          <a:solidFill>
            <a:srgbClr val="25385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9144000" y="5810098"/>
            <a:ext cx="190195" cy="190195"/>
          </a:xfrm>
          <a:prstGeom prst="ellipse">
            <a:avLst/>
          </a:prstGeom>
          <a:solidFill>
            <a:srgbClr val="25385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2668098" y="5810098"/>
            <a:ext cx="190195" cy="190195"/>
          </a:xfrm>
          <a:prstGeom prst="ellipse">
            <a:avLst/>
          </a:prstGeom>
          <a:solidFill>
            <a:srgbClr val="25385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1524305" y="1143000"/>
            <a:ext cx="15240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spc="264" kern="0" dirty="0">
                <a:solidFill>
                  <a:srgbClr val="2538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1524305" y="1524305"/>
            <a:ext cx="15240305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53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月次の進め方</a:t>
            </a:r>
            <a:endParaRPr lang="en-US" sz="3800" dirty="0"/>
          </a:p>
        </p:txBody>
      </p:sp>
      <p:sp>
        <p:nvSpPr>
          <p:cNvPr id="10" name="Text 6"/>
          <p:cNvSpPr txBox="1"/>
          <p:nvPr/>
        </p:nvSpPr>
        <p:spPr>
          <a:xfrm>
            <a:off x="1524305" y="3143707"/>
            <a:ext cx="15240305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B738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1か月を1サイクルとし、6回繰り返す。問題が見えれば翌月に運用を調整する。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524305" y="4667098"/>
            <a:ext cx="2667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2538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1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524305" y="4990795"/>
            <a:ext cx="2667305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53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月初</a:t>
            </a:r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E253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テーマ決定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1524305" y="6476695"/>
            <a:ext cx="26673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38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全員でアイデア出し。各自が今月のAI機能を1つ選ぶ。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5048402" y="4667098"/>
            <a:ext cx="2667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2538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2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5048402" y="4990795"/>
            <a:ext cx="2667305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53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月中</a:t>
            </a:r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E253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開発と共有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5048402" y="6476695"/>
            <a:ext cx="26673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38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各自が実装を進める。週次15分の情報共有で進捗を確認。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8572500" y="4667098"/>
            <a:ext cx="2667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2538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3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8572500" y="4990795"/>
            <a:ext cx="2667305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53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月末</a:t>
            </a:r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E253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発表とレビュー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8572500" y="6476695"/>
            <a:ext cx="2762402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38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成果を発表。狙い・工夫・課題まで共有し、質疑を行う。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12096598" y="4667098"/>
            <a:ext cx="2667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2538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4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12096598" y="4990795"/>
            <a:ext cx="2667305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53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翌月</a:t>
            </a:r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E253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改善 or 次テーマ</a:t>
            </a:r>
            <a:endParaRPr lang="en-US" sz="2000" dirty="0"/>
          </a:p>
        </p:txBody>
      </p:sp>
      <p:sp>
        <p:nvSpPr>
          <p:cNvPr id="22" name="Text 18"/>
          <p:cNvSpPr txBox="1"/>
          <p:nvPr/>
        </p:nvSpPr>
        <p:spPr>
          <a:xfrm>
            <a:off x="12096598" y="6476695"/>
            <a:ext cx="32388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38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同じ機能を改善しても、別機能に挑戦してもよい。運用も見直せる。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524305" y="8667598"/>
            <a:ext cx="15240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38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半年固定でやり切る前提ではなく、1か月ごとに運用を調整できる設計とする。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16383305" y="9715500"/>
            <a:ext cx="762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099A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06 / 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2101095135d46fc53e1aed6213152e3.png">    </p:cNvPr>
          <p:cNvPicPr>
            <a:picLocks noChangeAspect="1"/>
          </p:cNvPicPr>
          <p:nvPr/>
        </p:nvPicPr>
        <p:blipFill>
          <a:blip r:embed="rId1"/>
          <a:srcRect l="0" r="0" t="-375" b="-375"/>
          <a:stretch/>
        </p:blipFill>
        <p:spPr>
          <a:xfrm>
            <a:off x="1524305" y="2476195"/>
            <a:ext cx="609905" cy="19202"/>
          </a:xfrm>
          <a:prstGeom prst="rect">
            <a:avLst/>
          </a:prstGeom>
        </p:spPr>
      </p:pic>
      <p:pic>
        <p:nvPicPr>
          <p:cNvPr id="3" name="Image 1" descr="gen-dedup-816bfad2f8f38dde05464c05468883b0.png">    </p:cNvPr>
          <p:cNvPicPr>
            <a:picLocks noChangeAspect="1"/>
          </p:cNvPicPr>
          <p:nvPr/>
        </p:nvPicPr>
        <p:blipFill>
          <a:blip r:embed="rId2"/>
          <a:srcRect l="0" r="0" t="-2089" b="-2089"/>
          <a:stretch/>
        </p:blipFill>
        <p:spPr>
          <a:xfrm>
            <a:off x="9144000" y="4762195"/>
            <a:ext cx="9144" cy="323880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524305" y="1143000"/>
            <a:ext cx="15240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spc="264" kern="0" dirty="0">
                <a:solidFill>
                  <a:srgbClr val="2538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1524305" y="1524305"/>
            <a:ext cx="15240305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53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題材と素体アプリ</a:t>
            </a:r>
            <a:endParaRPr lang="en-US" sz="3800" dirty="0"/>
          </a:p>
        </p:txBody>
      </p:sp>
      <p:sp>
        <p:nvSpPr>
          <p:cNvPr id="6" name="Text 2"/>
          <p:cNvSpPr txBox="1"/>
          <p:nvPr/>
        </p:nvSpPr>
        <p:spPr>
          <a:xfrm>
            <a:off x="1524305" y="3143707"/>
            <a:ext cx="15240305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6B738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題材は</a:t>
            </a:r>
            <a:pPr algn="l" indent="0" marL="0">
              <a:buNone/>
            </a:pPr>
            <a:r>
              <a:rPr lang="en-US" sz="1800" b="1" dirty="0">
                <a:solidFill>
                  <a:srgbClr val="1E253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旅行者向け 宿泊予約サービス</a:t>
            </a:r>
            <a:pPr algn="l" indent="0" marL="0">
              <a:buNone/>
            </a:pPr>
            <a:r>
              <a:rPr lang="en-US" sz="1900" dirty="0">
                <a:solidFill>
                  <a:srgbClr val="6B738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。素体アプリはすでに完成しており、新規に大きな開発工数は発生しない。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1524305" y="4762195"/>
            <a:ext cx="7239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2538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素体アプリの機能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524305" y="5219395"/>
            <a:ext cx="723930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3D46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 宿泊施設・宿泊プランの登録／編集（管理者）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1524305" y="5672938"/>
            <a:ext cx="723930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3D46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 宿泊施設・宿泊プランの検索（旅行者）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524305" y="6126480"/>
            <a:ext cx="723930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3D46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 宿泊プランの予約（旅行者）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9525305" y="4762195"/>
            <a:ext cx="7239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2538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上に積むAI機能の例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9525305" y="5219395"/>
            <a:ext cx="723930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3D46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 宿泊プランのレコメンド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9525305" y="5672938"/>
            <a:ext cx="723930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3D46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 レビュー要約 / 口コミ傾向分析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9525305" y="6126480"/>
            <a:ext cx="723930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3D46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 施設紹介文・プラン説明文の自動生成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9525305" y="6580022"/>
            <a:ext cx="723930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3D46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 問い合わせ対応（FAQ / チャット）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1524305" y="8667598"/>
            <a:ext cx="15240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38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AI機能は例であり、月次のアイデア出しで柔軟に決める。学習用データはAIで生成した架空データを用いる。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16383305" y="9715500"/>
            <a:ext cx="762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099A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07 / 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2101095135d46fc53e1aed6213152e3.png">    </p:cNvPr>
          <p:cNvPicPr>
            <a:picLocks noChangeAspect="1"/>
          </p:cNvPicPr>
          <p:nvPr/>
        </p:nvPicPr>
        <p:blipFill>
          <a:blip r:embed="rId1"/>
          <a:srcRect l="0" r="0" t="-375" b="-375"/>
          <a:stretch/>
        </p:blipFill>
        <p:spPr>
          <a:xfrm>
            <a:off x="1524305" y="2476195"/>
            <a:ext cx="609905" cy="1920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524305" y="1143000"/>
            <a:ext cx="15240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spc="264" kern="0" dirty="0">
                <a:solidFill>
                  <a:srgbClr val="2538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524305" y="1524305"/>
            <a:ext cx="15240305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53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半年後に残るもの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1524305" y="3143707"/>
            <a:ext cx="15240305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B738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1本の完成アプリの代わりに、次の4種類の資産をセットで残す。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904695" y="5515661"/>
            <a:ext cx="14859000" cy="9144"/>
          </a:xfrm>
          <a:prstGeom prst="rect">
            <a:avLst/>
          </a:prstGeom>
          <a:solidFill>
            <a:srgbClr val="E2E5EB"/>
          </a:solidFill>
          <a:ln w="12700">
            <a:solidFill>
              <a:srgbClr val="E2E5EB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904695" y="4876495"/>
            <a:ext cx="762610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38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2667305" y="4876495"/>
            <a:ext cx="3238805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53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素体アプリ本体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905195" y="4924044"/>
            <a:ext cx="108585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38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翌年度以降も再利用できる、宿泊予約サービスの土台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904695" y="6366967"/>
            <a:ext cx="14859000" cy="9144"/>
          </a:xfrm>
          <a:prstGeom prst="rect">
            <a:avLst/>
          </a:prstGeom>
          <a:solidFill>
            <a:srgbClr val="E2E5EB"/>
          </a:solidFill>
          <a:ln w="12700">
            <a:solidFill>
              <a:srgbClr val="E2E5EB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904695" y="5727802"/>
            <a:ext cx="762610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38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2667305" y="5727802"/>
            <a:ext cx="3238805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53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AI機能群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905195" y="5775350"/>
            <a:ext cx="108585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38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各メンバーが月次で追加した、動作するAI機能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904695" y="7217359"/>
            <a:ext cx="14859000" cy="9144"/>
          </a:xfrm>
          <a:prstGeom prst="rect">
            <a:avLst/>
          </a:prstGeom>
          <a:solidFill>
            <a:srgbClr val="E2E5EB"/>
          </a:solidFill>
          <a:ln w="12700">
            <a:solidFill>
              <a:srgbClr val="E2E5EB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904695" y="6578194"/>
            <a:ext cx="762610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38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2667305" y="6578194"/>
            <a:ext cx="3238805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53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実装意図と学習資料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905195" y="6625742"/>
            <a:ext cx="108585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38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「なぜこの形で作ったか」の記録と、月次発表資料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904695" y="7429500"/>
            <a:ext cx="762610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38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2667305" y="7429500"/>
            <a:ext cx="3238805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53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翌年度の研修教材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905195" y="7477049"/>
            <a:ext cx="108585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38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新入社員向けの課題素材として再利用できる形に整理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6383305" y="9715500"/>
            <a:ext cx="762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099A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08 / 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2101095135d46fc53e1aed6213152e3.png">    </p:cNvPr>
          <p:cNvPicPr>
            <a:picLocks noChangeAspect="1"/>
          </p:cNvPicPr>
          <p:nvPr/>
        </p:nvPicPr>
        <p:blipFill>
          <a:blip r:embed="rId1"/>
          <a:srcRect l="0" r="0" t="-375" b="-375"/>
          <a:stretch/>
        </p:blipFill>
        <p:spPr>
          <a:xfrm>
            <a:off x="1524305" y="2476195"/>
            <a:ext cx="609905" cy="1920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524305" y="1143000"/>
            <a:ext cx="15240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spc="264" kern="0" dirty="0">
                <a:solidFill>
                  <a:srgbClr val="2538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524305" y="1524305"/>
            <a:ext cx="15240305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53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翌年度以降へのつながり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1524305" y="3143707"/>
            <a:ext cx="15240305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B738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題材を差し替えても、技術的なコアは共通しており、単年施策で終わらない構造とする。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904695" y="4953305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2538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今年度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904695" y="5315407"/>
            <a:ext cx="45720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53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土台をつくる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1904695" y="5877763"/>
            <a:ext cx="4572000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38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宿泊予約サービスを題材に、各自がAI機能を開発。教材の原型もあわせて整備する。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953098" y="5715000"/>
            <a:ext cx="5715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rgbClr val="C2C8D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700" dirty="0"/>
          </a:p>
        </p:txBody>
      </p:sp>
      <p:sp>
        <p:nvSpPr>
          <p:cNvPr id="10" name="Text 7"/>
          <p:cNvSpPr txBox="1"/>
          <p:nvPr/>
        </p:nvSpPr>
        <p:spPr>
          <a:xfrm>
            <a:off x="7810805" y="4953305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2538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翌年度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810805" y="5315407"/>
            <a:ext cx="45720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53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新入社員研修に流用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7810805" y="5877763"/>
            <a:ext cx="4572000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38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前年参加者が指導役に回り、教材を用いて新入社員が同じ課題を体験する。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2859207" y="5715000"/>
            <a:ext cx="5715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rgbClr val="C2C8D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7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0" y="4953305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2538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それ以降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0" y="5315407"/>
            <a:ext cx="3810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53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題材を差し替え継続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0" y="5877763"/>
            <a:ext cx="3810305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38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EC・住宅・就職など別ドメインへ差し替え。技術コアは共通のまま蓄積する。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524305" y="8572500"/>
            <a:ext cx="15240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38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仮に新入社員が入らない年でも、既存メンバーの再学習や部内勉強会に転用できる想定。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6383305" y="9715500"/>
            <a:ext cx="762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099A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09 / 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2101095135d46fc53e1aed6213152e3.png">    </p:cNvPr>
          <p:cNvPicPr>
            <a:picLocks noChangeAspect="1"/>
          </p:cNvPicPr>
          <p:nvPr/>
        </p:nvPicPr>
        <p:blipFill>
          <a:blip r:embed="rId1"/>
          <a:srcRect l="0" r="0" t="-375" b="-375"/>
          <a:stretch/>
        </p:blipFill>
        <p:spPr>
          <a:xfrm>
            <a:off x="1524305" y="2476195"/>
            <a:ext cx="609905" cy="19202"/>
          </a:xfrm>
          <a:prstGeom prst="rect">
            <a:avLst/>
          </a:prstGeom>
        </p:spPr>
      </p:pic>
      <p:pic>
        <p:nvPicPr>
          <p:cNvPr id="3" name="Image 1" descr="gen-dedup-af2b78b11e98fc00d68924f395567925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524305" y="8953805"/>
            <a:ext cx="15240305" cy="91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524305" y="1143000"/>
            <a:ext cx="15240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spc="264" kern="0" dirty="0">
                <a:solidFill>
                  <a:srgbClr val="2538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1524305" y="1524305"/>
            <a:ext cx="15240305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53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まとめ</a:t>
            </a:r>
            <a:endParaRPr lang="en-US" sz="3800" dirty="0"/>
          </a:p>
        </p:txBody>
      </p:sp>
      <p:sp>
        <p:nvSpPr>
          <p:cNvPr id="6" name="Text 2"/>
          <p:cNvSpPr txBox="1"/>
          <p:nvPr/>
        </p:nvSpPr>
        <p:spPr>
          <a:xfrm>
            <a:off x="1524305" y="3429000"/>
            <a:ext cx="15240305" cy="1390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3000" dirty="0">
                <a:solidFill>
                  <a:srgbClr val="1E253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昨年度の反省を踏まえ、今年度は</a:t>
            </a:r>
            <a:pPr algn="l" indent="0" marL="0">
              <a:lnSpc>
                <a:spcPts val="5100"/>
              </a:lnSpc>
              <a:buNone/>
            </a:pPr>
            <a:r>
              <a:rPr lang="en-US" sz="3000" b="1" dirty="0">
                <a:solidFill>
                  <a:srgbClr val="1E253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全員がAI実装を経験する半年間</a:t>
            </a:r>
            <a:pPr algn="l" indent="0" marL="0">
              <a:lnSpc>
                <a:spcPts val="5100"/>
              </a:lnSpc>
              <a:buNone/>
            </a:pPr>
            <a:r>
              <a:rPr lang="en-US" sz="3000" dirty="0">
                <a:solidFill>
                  <a:srgbClr val="1E253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とし、</a:t>
            </a:r>
            <a:pPr algn="l" indent="0" marL="0">
              <a:lnSpc>
                <a:spcPts val="5100"/>
              </a:lnSpc>
              <a:buNone/>
            </a:pPr>
            <a:endParaRPr lang="en-US" sz="3000" dirty="0"/>
          </a:p>
          <a:p>
            <a:pPr algn="l" indent="0" marL="0">
              <a:lnSpc>
                <a:spcPts val="5100"/>
              </a:lnSpc>
              <a:buNone/>
            </a:pPr>
            <a:r>
              <a:rPr lang="en-US" sz="3000" dirty="0">
                <a:solidFill>
                  <a:srgbClr val="1E253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成果は翌年度の育成につながる形で残したい。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1904695" y="6286500"/>
            <a:ext cx="1485900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D46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 各自が月1機能を開発し、発表とレビューでチームに共有する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1904695" y="6789420"/>
            <a:ext cx="1485900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D46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 1か月単位で運用を見直せるため、途中で方針修正も可能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1904695" y="7292340"/>
            <a:ext cx="1485900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D46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 素体・AI機能・実装意図・教材群を残し、翌年度以降に活用する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524305" y="9191549"/>
            <a:ext cx="15240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38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以上の方針で、10月からの活動開始についてご確認をお願いします。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6383305" y="9715500"/>
            <a:ext cx="762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099A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 / 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2026-07-13T19:01:57Z</dcterms:created>
  <dcterms:modified xsi:type="dcterms:W3CDTF">2026-07-13T19:01:57Z</dcterms:modified>
</cp:coreProperties>
</file>