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311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サービス概要" id="{DAB00E29-8F52-47A2-8CFB-F0319F2E8649}">
          <p14:sldIdLst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砂盃 梨乃" initials="砂盃" lastIdx="12" clrIdx="0">
    <p:extLst>
      <p:ext uri="{19B8F6BF-5375-455C-9EA6-DF929625EA0E}">
        <p15:presenceInfo xmlns:p15="http://schemas.microsoft.com/office/powerpoint/2012/main" userId="S-1-5-21-244082033-2012312242-1792151419-390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D6C6"/>
    <a:srgbClr val="D4EEEC"/>
    <a:srgbClr val="43AEFF"/>
    <a:srgbClr val="E7F5FF"/>
    <a:srgbClr val="CCCC00"/>
    <a:srgbClr val="FBFBFB"/>
    <a:srgbClr val="C5E6FF"/>
    <a:srgbClr val="F5F5F5"/>
    <a:srgbClr val="8EB4E3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DBED569-4797-4DF1-A0F4-6AAB3CD982D8}" styleName="淡色スタイル 3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3681" autoAdjust="0"/>
  </p:normalViewPr>
  <p:slideViewPr>
    <p:cSldViewPr snapToGrid="0">
      <p:cViewPr varScale="1">
        <p:scale>
          <a:sx n="117" d="100"/>
          <a:sy n="117" d="100"/>
        </p:scale>
        <p:origin x="40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61DA47-6FA7-4861-A6BD-9BEB99B1D15F}" type="datetimeFigureOut">
              <a:rPr kumimoji="1" lang="ja-JP" altLang="en-US" smtClean="0"/>
              <a:t>2026/8/6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6D0758-E1DB-4236-9F9E-F4DE7C25290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0149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1958975"/>
            <a:ext cx="103632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4011328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16304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1012014"/>
            <a:ext cx="10972800" cy="5234782"/>
          </a:xfrm>
          <a:prstGeom prst="rect">
            <a:avLst/>
          </a:prstGeom>
        </p:spPr>
        <p:txBody>
          <a:bodyPr/>
          <a:lstStyle>
            <a:lvl1pPr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2pPr>
            <a:lvl3pPr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3pPr>
            <a:lvl4pPr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4pPr>
            <a:lvl5pPr>
              <a:defRPr>
                <a:latin typeface="游ゴシック" panose="020B0400000000000000" pitchFamily="50" charset="-128"/>
                <a:ea typeface="游ゴシック" panose="020B0400000000000000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8C64DD9-EBD9-4AD1-8683-ADFC199D4D1D}"/>
              </a:ext>
            </a:extLst>
          </p:cNvPr>
          <p:cNvSpPr/>
          <p:nvPr userDrawn="1"/>
        </p:nvSpPr>
        <p:spPr>
          <a:xfrm>
            <a:off x="0" y="620714"/>
            <a:ext cx="12192000" cy="501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5000">
                <a:srgbClr val="00589A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0860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1F5004A-EE7B-492C-9DDA-A4B028F0C5A8}"/>
              </a:ext>
            </a:extLst>
          </p:cNvPr>
          <p:cNvSpPr/>
          <p:nvPr userDrawn="1"/>
        </p:nvSpPr>
        <p:spPr>
          <a:xfrm>
            <a:off x="0" y="620714"/>
            <a:ext cx="12192000" cy="501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5000">
                <a:srgbClr val="00589A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3984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"/>
            <a:ext cx="10897496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7800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2" name="テキスト ボックス 1"/>
          <p:cNvSpPr txBox="1"/>
          <p:nvPr/>
        </p:nvSpPr>
        <p:spPr>
          <a:xfrm>
            <a:off x="8295" y="6611001"/>
            <a:ext cx="37080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00" dirty="0"/>
              <a:t>Copyright © Japan Business Development All Rights Reserved.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1717609" y="6472501"/>
            <a:ext cx="3577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AB57010-2EF1-4AA0-8A86-7E629865122A}" type="slidenum">
              <a:rPr kumimoji="1" lang="ja-JP" altLang="en-US" sz="11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‹#›</a:t>
            </a:fld>
            <a:endParaRPr kumimoji="1" lang="en-US" altLang="ja-JP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Picture 7" descr="log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9295" y="117318"/>
            <a:ext cx="936104" cy="436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5906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HGP創英角ｺﾞｼｯｸUB" pitchFamily="50" charset="-128"/>
          <a:ea typeface="HGP創英角ｺﾞｼｯｸUB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D9F030F0-4CE6-4802-9BD9-0E9E86ED23AE}"/>
              </a:ext>
            </a:extLst>
          </p:cNvPr>
          <p:cNvSpPr/>
          <p:nvPr/>
        </p:nvSpPr>
        <p:spPr>
          <a:xfrm>
            <a:off x="5632240" y="1351882"/>
            <a:ext cx="4230218" cy="5216334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6C493662-E9FA-4F64-881A-5E36ED0062AE}"/>
              </a:ext>
            </a:extLst>
          </p:cNvPr>
          <p:cNvSpPr/>
          <p:nvPr/>
        </p:nvSpPr>
        <p:spPr>
          <a:xfrm>
            <a:off x="5632240" y="1351882"/>
            <a:ext cx="4230218" cy="3960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レビュー依頼</a:t>
            </a: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00363B09-5367-42CC-96E3-5BC3A53CD3BD}"/>
              </a:ext>
            </a:extLst>
          </p:cNvPr>
          <p:cNvSpPr/>
          <p:nvPr/>
        </p:nvSpPr>
        <p:spPr>
          <a:xfrm>
            <a:off x="2379047" y="1349566"/>
            <a:ext cx="3099957" cy="5218868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95AE78A4-AEA1-4800-A22A-ED615CF7CBFC}"/>
              </a:ext>
            </a:extLst>
          </p:cNvPr>
          <p:cNvSpPr/>
          <p:nvPr/>
        </p:nvSpPr>
        <p:spPr>
          <a:xfrm>
            <a:off x="278163" y="1349566"/>
            <a:ext cx="1947647" cy="5218867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B15F35B-ED7D-4331-B07B-46DD8A360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２．事業アイデアの概要</a:t>
            </a:r>
          </a:p>
        </p:txBody>
      </p:sp>
      <p:sp>
        <p:nvSpPr>
          <p:cNvPr id="81" name="コンテンツ プレースホルダー 2">
            <a:extLst>
              <a:ext uri="{FF2B5EF4-FFF2-40B4-BE49-F238E27FC236}">
                <a16:creationId xmlns:a16="http://schemas.microsoft.com/office/drawing/2014/main" id="{93C146EB-16E3-4DF5-AF90-AA456989D019}"/>
              </a:ext>
            </a:extLst>
          </p:cNvPr>
          <p:cNvSpPr txBox="1">
            <a:spLocks/>
          </p:cNvSpPr>
          <p:nvPr/>
        </p:nvSpPr>
        <p:spPr>
          <a:xfrm>
            <a:off x="217714" y="781701"/>
            <a:ext cx="10972800" cy="380147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ja-JP" altLang="en-US" sz="1800" b="1" kern="0" dirty="0"/>
              <a:t>サービス概要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7963B89B-0FB3-499B-A0F5-D74CE98C5B51}"/>
              </a:ext>
            </a:extLst>
          </p:cNvPr>
          <p:cNvSpPr txBox="1"/>
          <p:nvPr/>
        </p:nvSpPr>
        <p:spPr>
          <a:xfrm>
            <a:off x="397406" y="5089559"/>
            <a:ext cx="1592698" cy="428652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altLang="ja-JP" sz="1200" dirty="0"/>
              <a:t>PJ</a:t>
            </a:r>
            <a:r>
              <a:rPr kumimoji="1" lang="ja-JP" altLang="en-US" sz="1200" dirty="0"/>
              <a:t>ごとのチェック観点表</a:t>
            </a:r>
            <a:endParaRPr kumimoji="1" lang="en-US" altLang="ja-JP" sz="1200" dirty="0"/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EBDDA123-4135-4982-89AB-65D25E66A3A8}"/>
              </a:ext>
            </a:extLst>
          </p:cNvPr>
          <p:cNvSpPr/>
          <p:nvPr/>
        </p:nvSpPr>
        <p:spPr>
          <a:xfrm>
            <a:off x="278162" y="1351881"/>
            <a:ext cx="1947648" cy="3960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事前準備</a:t>
            </a: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909606F0-7F5E-4783-94A0-B199E7688E2A}"/>
              </a:ext>
            </a:extLst>
          </p:cNvPr>
          <p:cNvSpPr/>
          <p:nvPr/>
        </p:nvSpPr>
        <p:spPr>
          <a:xfrm>
            <a:off x="2379047" y="1349566"/>
            <a:ext cx="3099956" cy="396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AI</a:t>
            </a:r>
            <a:r>
              <a:rPr lang="ja-JP" altLang="en-US" sz="16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レビューサービス</a:t>
            </a:r>
            <a:endParaRPr kumimoji="1" lang="ja-JP" altLang="en-US" sz="16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BFFF2C75-3FCF-4A88-A15F-039CDFFEE165}"/>
              </a:ext>
            </a:extLst>
          </p:cNvPr>
          <p:cNvSpPr txBox="1"/>
          <p:nvPr/>
        </p:nvSpPr>
        <p:spPr>
          <a:xfrm>
            <a:off x="309797" y="2363337"/>
            <a:ext cx="1855659" cy="548251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/>
              <a:t>過去のレビュー結果</a:t>
            </a:r>
            <a:endParaRPr kumimoji="1" lang="en-US" altLang="ja-JP" sz="1200" dirty="0"/>
          </a:p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/>
              <a:t>社内標準文書</a:t>
            </a:r>
            <a:endParaRPr kumimoji="1" lang="en-US" altLang="ja-JP" sz="1200" dirty="0"/>
          </a:p>
          <a:p>
            <a:pPr marL="176213" lvl="1">
              <a:spcBef>
                <a:spcPts val="400"/>
              </a:spcBef>
            </a:pPr>
            <a:r>
              <a:rPr lang="ja-JP" altLang="en-US" sz="1200" dirty="0"/>
              <a:t>＜ファイル形式＞</a:t>
            </a: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ja-JP" sz="1200" dirty="0"/>
              <a:t>xlsx</a:t>
            </a:r>
            <a:r>
              <a:rPr lang="ja-JP" altLang="en-US" sz="1200" dirty="0"/>
              <a:t>、</a:t>
            </a:r>
            <a:r>
              <a:rPr lang="en-US" altLang="ja-JP" sz="1200" dirty="0"/>
              <a:t>docx</a:t>
            </a:r>
            <a:r>
              <a:rPr lang="ja-JP" altLang="en-US" sz="1200" dirty="0"/>
              <a:t>、</a:t>
            </a:r>
            <a:r>
              <a:rPr lang="en-US" altLang="ja-JP" sz="1200" dirty="0"/>
              <a:t>pptx</a:t>
            </a:r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altLang="ja-JP" sz="1200" dirty="0"/>
              <a:t>txt</a:t>
            </a:r>
            <a:r>
              <a:rPr kumimoji="1" lang="ja-JP" altLang="en-US" sz="1200" dirty="0"/>
              <a:t>、</a:t>
            </a:r>
            <a:r>
              <a:rPr kumimoji="1" lang="en-US" altLang="ja-JP" sz="1200" dirty="0"/>
              <a:t>md</a:t>
            </a:r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ja-JP" sz="1200" dirty="0"/>
              <a:t>pdf</a:t>
            </a:r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altLang="ja-JP" sz="1200" dirty="0"/>
              <a:t>html</a:t>
            </a:r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ja-JP" sz="1200" dirty="0"/>
              <a:t>rtf</a:t>
            </a:r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ja-JP" sz="1200" dirty="0"/>
              <a:t>j</a:t>
            </a:r>
            <a:r>
              <a:rPr kumimoji="1" lang="en-US" altLang="ja-JP" sz="1200" dirty="0"/>
              <a:t>pg</a:t>
            </a:r>
            <a:r>
              <a:rPr kumimoji="1" lang="ja-JP" altLang="en-US" sz="1200" dirty="0"/>
              <a:t>、</a:t>
            </a:r>
            <a:r>
              <a:rPr kumimoji="1" lang="en-US" altLang="ja-JP" sz="1200" dirty="0" err="1"/>
              <a:t>png</a:t>
            </a:r>
            <a:endParaRPr kumimoji="1" lang="en-US" altLang="ja-JP" sz="1200" dirty="0"/>
          </a:p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altLang="ja-JP" sz="1200" dirty="0"/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68056080-6EEB-429C-9F59-ED0A48C16BFA}"/>
              </a:ext>
            </a:extLst>
          </p:cNvPr>
          <p:cNvSpPr/>
          <p:nvPr/>
        </p:nvSpPr>
        <p:spPr>
          <a:xfrm>
            <a:off x="347742" y="1923560"/>
            <a:ext cx="1225994" cy="454713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ナレッジ登録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02" name="四角形: 角を丸くする 101">
            <a:extLst>
              <a:ext uri="{FF2B5EF4-FFF2-40B4-BE49-F238E27FC236}">
                <a16:creationId xmlns:a16="http://schemas.microsoft.com/office/drawing/2014/main" id="{C6552056-9327-45CC-B408-1D4EC65FD3BF}"/>
              </a:ext>
            </a:extLst>
          </p:cNvPr>
          <p:cNvSpPr/>
          <p:nvPr/>
        </p:nvSpPr>
        <p:spPr>
          <a:xfrm>
            <a:off x="447995" y="4581821"/>
            <a:ext cx="1225994" cy="454713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チェック</a:t>
            </a:r>
            <a:endParaRPr kumimoji="0" lang="en-US" altLang="ja-JP" sz="1200" b="1" kern="0" dirty="0">
              <a:latin typeface="游ゴシック" panose="020F0502020204030204"/>
              <a:ea typeface="游ゴシック" panose="020B0400000000000000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観点</a:t>
            </a: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登録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130" name="Graphic 16" descr="Document resource icon for the General Icons category.">
            <a:extLst>
              <a:ext uri="{FF2B5EF4-FFF2-40B4-BE49-F238E27FC236}">
                <a16:creationId xmlns:a16="http://schemas.microsoft.com/office/drawing/2014/main" id="{47F3C0CD-DA59-4D7E-AA71-8E2A8503C52A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2707944" y="5097497"/>
            <a:ext cx="795570" cy="795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10937D6E-8C59-4AFE-9BB8-D808EA2AB483}"/>
              </a:ext>
            </a:extLst>
          </p:cNvPr>
          <p:cNvCxnSpPr>
            <a:cxnSpLocks/>
          </p:cNvCxnSpPr>
          <p:nvPr/>
        </p:nvCxnSpPr>
        <p:spPr>
          <a:xfrm>
            <a:off x="3091841" y="4169027"/>
            <a:ext cx="1" cy="4127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テキスト ボックス 139">
            <a:extLst>
              <a:ext uri="{FF2B5EF4-FFF2-40B4-BE49-F238E27FC236}">
                <a16:creationId xmlns:a16="http://schemas.microsoft.com/office/drawing/2014/main" id="{E68D0BAB-EE29-4083-8220-B81E3E2F2820}"/>
              </a:ext>
            </a:extLst>
          </p:cNvPr>
          <p:cNvSpPr txBox="1"/>
          <p:nvPr/>
        </p:nvSpPr>
        <p:spPr>
          <a:xfrm>
            <a:off x="2487926" y="1894134"/>
            <a:ext cx="1350068" cy="324353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algn="ctr">
              <a:spcBef>
                <a:spcPts val="400"/>
              </a:spcBef>
            </a:pPr>
            <a:r>
              <a:rPr lang="ja-JP" altLang="en-US" sz="1400" b="1" dirty="0">
                <a:latin typeface="+mn-ea"/>
              </a:rPr>
              <a:t>ナレッジ</a:t>
            </a:r>
            <a:r>
              <a:rPr lang="en-US" altLang="ja-JP" sz="1400" b="1" dirty="0">
                <a:latin typeface="+mn-ea"/>
              </a:rPr>
              <a:t>DB</a:t>
            </a:r>
            <a:endParaRPr kumimoji="1" lang="en-US" altLang="ja-JP" sz="1400" b="1" dirty="0">
              <a:latin typeface="+mn-ea"/>
            </a:endParaRPr>
          </a:p>
          <a:p>
            <a:pPr algn="ctr">
              <a:spcBef>
                <a:spcPts val="400"/>
              </a:spcBef>
            </a:pPr>
            <a:endParaRPr kumimoji="1" lang="en-US" altLang="ja-JP" sz="1400" b="1" dirty="0">
              <a:latin typeface="+mn-ea"/>
            </a:endParaRPr>
          </a:p>
        </p:txBody>
      </p: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AA112716-474E-43F0-8331-CCD7D9758420}"/>
              </a:ext>
            </a:extLst>
          </p:cNvPr>
          <p:cNvSpPr txBox="1"/>
          <p:nvPr/>
        </p:nvSpPr>
        <p:spPr>
          <a:xfrm>
            <a:off x="2430840" y="4575393"/>
            <a:ext cx="1350068" cy="670086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algn="ctr">
              <a:spcBef>
                <a:spcPts val="400"/>
              </a:spcBef>
            </a:pPr>
            <a:r>
              <a:rPr lang="ja-JP" altLang="en-US" sz="1400" b="1" dirty="0">
                <a:latin typeface="+mn-ea"/>
              </a:rPr>
              <a:t>チェック用</a:t>
            </a:r>
            <a:endParaRPr lang="en-US" altLang="ja-JP" sz="1400" b="1" dirty="0">
              <a:latin typeface="+mn-ea"/>
            </a:endParaRPr>
          </a:p>
          <a:p>
            <a:pPr algn="ctr">
              <a:spcBef>
                <a:spcPts val="400"/>
              </a:spcBef>
            </a:pPr>
            <a:r>
              <a:rPr kumimoji="1" lang="ja-JP" altLang="en-US" sz="1400" b="1" dirty="0">
                <a:latin typeface="+mn-ea"/>
              </a:rPr>
              <a:t>プロンプト</a:t>
            </a:r>
            <a:endParaRPr kumimoji="1" lang="en-US" altLang="ja-JP" sz="1400" b="1" dirty="0">
              <a:latin typeface="+mn-ea"/>
            </a:endParaRP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55102432-965F-4BA6-B26D-63B05CC169DB}"/>
              </a:ext>
            </a:extLst>
          </p:cNvPr>
          <p:cNvSpPr txBox="1"/>
          <p:nvPr/>
        </p:nvSpPr>
        <p:spPr>
          <a:xfrm>
            <a:off x="2493241" y="2141173"/>
            <a:ext cx="1189303" cy="460317"/>
          </a:xfrm>
          <a:prstGeom prst="rect">
            <a:avLst/>
          </a:prstGeom>
          <a:solidFill>
            <a:srgbClr val="E7F5FF"/>
          </a:solidFill>
        </p:spPr>
        <p:txBody>
          <a:bodyPr wrap="square">
            <a:spAutoFit/>
          </a:bodyPr>
          <a:lstStyle/>
          <a:p>
            <a:r>
              <a:rPr kumimoji="1" lang="ja-JP" altLang="en-US" sz="1200" b="1" dirty="0">
                <a:latin typeface="+mn-ea"/>
              </a:rPr>
              <a:t>データに</a:t>
            </a:r>
            <a:endParaRPr kumimoji="1" lang="en-US" altLang="ja-JP" sz="1200" b="1" dirty="0">
              <a:latin typeface="+mn-ea"/>
            </a:endParaRPr>
          </a:p>
          <a:p>
            <a:r>
              <a:rPr kumimoji="1" lang="ja-JP" altLang="en-US" sz="1200" b="1" dirty="0">
                <a:latin typeface="+mn-ea"/>
              </a:rPr>
              <a:t>ラベル設定</a:t>
            </a:r>
            <a:endParaRPr lang="ja-JP" altLang="en-US" sz="1200" b="1" dirty="0">
              <a:latin typeface="+mn-ea"/>
            </a:endParaRPr>
          </a:p>
        </p:txBody>
      </p:sp>
      <p:pic>
        <p:nvPicPr>
          <p:cNvPr id="164" name="グラフィックス 163">
            <a:extLst>
              <a:ext uri="{FF2B5EF4-FFF2-40B4-BE49-F238E27FC236}">
                <a16:creationId xmlns:a16="http://schemas.microsoft.com/office/drawing/2014/main" id="{2F8B985A-4919-4F84-BA22-7285CEB16F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1977" y="2172924"/>
            <a:ext cx="354665" cy="377211"/>
          </a:xfrm>
          <a:prstGeom prst="rect">
            <a:avLst/>
          </a:prstGeom>
        </p:spPr>
      </p:pic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A9AE8F16-8DFB-4746-B04A-09C6AB07DC83}"/>
              </a:ext>
            </a:extLst>
          </p:cNvPr>
          <p:cNvCxnSpPr>
            <a:cxnSpLocks/>
            <a:stCxn id="102" idx="3"/>
            <a:endCxn id="212" idx="1"/>
          </p:cNvCxnSpPr>
          <p:nvPr/>
        </p:nvCxnSpPr>
        <p:spPr>
          <a:xfrm flipV="1">
            <a:off x="1673989" y="3842584"/>
            <a:ext cx="881791" cy="96659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テキスト ボックス 211">
            <a:extLst>
              <a:ext uri="{FF2B5EF4-FFF2-40B4-BE49-F238E27FC236}">
                <a16:creationId xmlns:a16="http://schemas.microsoft.com/office/drawing/2014/main" id="{39F11628-63FA-4B2B-B018-0CE27A44163C}"/>
              </a:ext>
            </a:extLst>
          </p:cNvPr>
          <p:cNvSpPr txBox="1"/>
          <p:nvPr/>
        </p:nvSpPr>
        <p:spPr>
          <a:xfrm>
            <a:off x="2555780" y="3519418"/>
            <a:ext cx="1042122" cy="646331"/>
          </a:xfrm>
          <a:prstGeom prst="rect">
            <a:avLst/>
          </a:prstGeom>
          <a:solidFill>
            <a:srgbClr val="E7F5FF"/>
          </a:solidFill>
        </p:spPr>
        <p:txBody>
          <a:bodyPr wrap="square">
            <a:spAutoFit/>
          </a:bodyPr>
          <a:lstStyle/>
          <a:p>
            <a:r>
              <a:rPr kumimoji="1" lang="ja-JP" altLang="en-US" sz="1200" b="1" dirty="0">
                <a:latin typeface="+mn-ea"/>
              </a:rPr>
              <a:t>チェック</a:t>
            </a:r>
            <a:r>
              <a:rPr lang="ja-JP" altLang="en-US" sz="1200" b="1" dirty="0">
                <a:latin typeface="+mn-ea"/>
              </a:rPr>
              <a:t>用プロンプトを自動生成</a:t>
            </a:r>
          </a:p>
        </p:txBody>
      </p:sp>
      <p:pic>
        <p:nvPicPr>
          <p:cNvPr id="110" name="グラフィックス 109">
            <a:extLst>
              <a:ext uri="{FF2B5EF4-FFF2-40B4-BE49-F238E27FC236}">
                <a16:creationId xmlns:a16="http://schemas.microsoft.com/office/drawing/2014/main" id="{B3F47539-09AE-4820-8C09-2DCEF4F915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3684" y="3948379"/>
            <a:ext cx="354665" cy="377211"/>
          </a:xfrm>
          <a:prstGeom prst="rect">
            <a:avLst/>
          </a:prstGeom>
        </p:spPr>
      </p:pic>
      <p:pic>
        <p:nvPicPr>
          <p:cNvPr id="50" name="グラフィックス 49" descr="データベース 単色塗りつぶし">
            <a:extLst>
              <a:ext uri="{FF2B5EF4-FFF2-40B4-BE49-F238E27FC236}">
                <a16:creationId xmlns:a16="http://schemas.microsoft.com/office/drawing/2014/main" id="{D3761D42-B05F-4E07-8577-3AF3411724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4766" y="2582568"/>
            <a:ext cx="914400" cy="914400"/>
          </a:xfrm>
          <a:prstGeom prst="rect">
            <a:avLst/>
          </a:prstGeom>
        </p:spPr>
      </p:pic>
      <p:pic>
        <p:nvPicPr>
          <p:cNvPr id="51" name="グラフィックス 50" descr="データベース 単色塗りつぶし">
            <a:extLst>
              <a:ext uri="{FF2B5EF4-FFF2-40B4-BE49-F238E27FC236}">
                <a16:creationId xmlns:a16="http://schemas.microsoft.com/office/drawing/2014/main" id="{BDCA966A-FDF3-46BC-9954-2E0E0667AC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65930" y="2926866"/>
            <a:ext cx="600382" cy="600382"/>
          </a:xfrm>
          <a:prstGeom prst="rect">
            <a:avLst/>
          </a:prstGeom>
        </p:spPr>
      </p:pic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E93E679A-D269-4273-B3F0-EFC47E626F6B}"/>
              </a:ext>
            </a:extLst>
          </p:cNvPr>
          <p:cNvSpPr/>
          <p:nvPr/>
        </p:nvSpPr>
        <p:spPr>
          <a:xfrm>
            <a:off x="10010103" y="1349566"/>
            <a:ext cx="1964183" cy="5216334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A6E88DD3-3701-4292-A360-08D96A04DA70}"/>
              </a:ext>
            </a:extLst>
          </p:cNvPr>
          <p:cNvSpPr/>
          <p:nvPr/>
        </p:nvSpPr>
        <p:spPr>
          <a:xfrm>
            <a:off x="10015695" y="1349566"/>
            <a:ext cx="1952999" cy="396000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進捗管理</a:t>
            </a:r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39E22221-E0B7-4EEA-8DBE-298046B9441F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1573736" y="2150917"/>
            <a:ext cx="982044" cy="2136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図 63">
            <a:extLst>
              <a:ext uri="{FF2B5EF4-FFF2-40B4-BE49-F238E27FC236}">
                <a16:creationId xmlns:a16="http://schemas.microsoft.com/office/drawing/2014/main" id="{8ECD639C-7225-4658-8FA9-1E62E1EAFC7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843"/>
          <a:stretch/>
        </p:blipFill>
        <p:spPr>
          <a:xfrm>
            <a:off x="11200073" y="1101888"/>
            <a:ext cx="712661" cy="519546"/>
          </a:xfrm>
          <a:prstGeom prst="rect">
            <a:avLst/>
          </a:prstGeom>
        </p:spPr>
      </p:pic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5AECF8CD-CC41-43AA-8D91-9838D37D5B46}"/>
              </a:ext>
            </a:extLst>
          </p:cNvPr>
          <p:cNvSpPr/>
          <p:nvPr/>
        </p:nvSpPr>
        <p:spPr>
          <a:xfrm>
            <a:off x="11352873" y="1588506"/>
            <a:ext cx="496426" cy="144000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PM</a:t>
            </a:r>
            <a:endParaRPr kumimoji="1" lang="ja-JP" altLang="en-US" sz="1000" b="1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205" name="図 204">
            <a:extLst>
              <a:ext uri="{FF2B5EF4-FFF2-40B4-BE49-F238E27FC236}">
                <a16:creationId xmlns:a16="http://schemas.microsoft.com/office/drawing/2014/main" id="{BE1C8453-DD5F-4708-9A39-44934408465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41762"/>
          <a:stretch/>
        </p:blipFill>
        <p:spPr>
          <a:xfrm>
            <a:off x="8297063" y="1101524"/>
            <a:ext cx="712661" cy="520274"/>
          </a:xfrm>
          <a:prstGeom prst="rect">
            <a:avLst/>
          </a:prstGeom>
        </p:spPr>
      </p:pic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027E1716-83B3-4C72-8733-54A341D94CA5}"/>
              </a:ext>
            </a:extLst>
          </p:cNvPr>
          <p:cNvSpPr/>
          <p:nvPr/>
        </p:nvSpPr>
        <p:spPr>
          <a:xfrm>
            <a:off x="8347760" y="1588506"/>
            <a:ext cx="728450" cy="144000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0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設計担当</a:t>
            </a:r>
            <a:endParaRPr kumimoji="1" lang="ja-JP" altLang="en-US" sz="1000" b="1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pic>
        <p:nvPicPr>
          <p:cNvPr id="67" name="図 66">
            <a:extLst>
              <a:ext uri="{FF2B5EF4-FFF2-40B4-BE49-F238E27FC236}">
                <a16:creationId xmlns:a16="http://schemas.microsoft.com/office/drawing/2014/main" id="{3203C035-A78A-4670-BC29-C18946DF9978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843"/>
          <a:stretch/>
        </p:blipFill>
        <p:spPr>
          <a:xfrm>
            <a:off x="1460847" y="1101888"/>
            <a:ext cx="712661" cy="519546"/>
          </a:xfrm>
          <a:prstGeom prst="rect">
            <a:avLst/>
          </a:prstGeom>
        </p:spPr>
      </p:pic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FAA898F1-9F62-462E-815D-2A3E256B0BF2}"/>
              </a:ext>
            </a:extLst>
          </p:cNvPr>
          <p:cNvSpPr/>
          <p:nvPr/>
        </p:nvSpPr>
        <p:spPr>
          <a:xfrm>
            <a:off x="1613647" y="1588506"/>
            <a:ext cx="496426" cy="144000"/>
          </a:xfrm>
          <a:prstGeom prst="rect">
            <a:avLst/>
          </a:prstGeom>
          <a:solidFill>
            <a:schemeClr val="bg1"/>
          </a:solidFill>
          <a:ln w="952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b="1" dirty="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PM</a:t>
            </a:r>
            <a:endParaRPr kumimoji="1" lang="ja-JP" altLang="en-US" sz="1000" b="1" dirty="0">
              <a:solidFill>
                <a:schemeClr val="tx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9DB9B4B7-C361-4DDF-B5A3-1EACD0E30896}"/>
              </a:ext>
            </a:extLst>
          </p:cNvPr>
          <p:cNvSpPr txBox="1"/>
          <p:nvPr/>
        </p:nvSpPr>
        <p:spPr>
          <a:xfrm>
            <a:off x="7185674" y="1869834"/>
            <a:ext cx="2720650" cy="872006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/>
              <a:t>レビュー対象</a:t>
            </a:r>
            <a:r>
              <a:rPr lang="ja-JP" altLang="en-US" sz="1200" dirty="0"/>
              <a:t>＆参考とする</a:t>
            </a:r>
            <a:r>
              <a:rPr kumimoji="1" lang="ja-JP" altLang="en-US" sz="1200" dirty="0"/>
              <a:t>設計書</a:t>
            </a:r>
            <a:endParaRPr kumimoji="1" lang="en-US" altLang="ja-JP" sz="1200" dirty="0"/>
          </a:p>
          <a:p>
            <a:pPr>
              <a:spcBef>
                <a:spcPts val="400"/>
              </a:spcBef>
            </a:pPr>
            <a:r>
              <a:rPr lang="ja-JP" altLang="en-US" sz="1200" dirty="0"/>
              <a:t>＜ファイル形式＞</a:t>
            </a: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ja-JP" sz="1200" dirty="0"/>
              <a:t>Office</a:t>
            </a:r>
            <a:r>
              <a:rPr lang="ja-JP" altLang="en-US" sz="1200" dirty="0"/>
              <a:t>系ファイル：</a:t>
            </a:r>
            <a:r>
              <a:rPr lang="en-US" altLang="ja-JP" sz="1200" dirty="0"/>
              <a:t>Excel</a:t>
            </a:r>
            <a:r>
              <a:rPr lang="ja-JP" altLang="en-US" sz="1200" dirty="0"/>
              <a:t>、</a:t>
            </a:r>
            <a:r>
              <a:rPr lang="en-US" altLang="ja-JP" sz="1200" dirty="0"/>
              <a:t>Word</a:t>
            </a:r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/>
              <a:t>テキストファイル：</a:t>
            </a:r>
            <a:r>
              <a:rPr kumimoji="1" lang="en-US" altLang="ja-JP" sz="1200" dirty="0"/>
              <a:t>txt</a:t>
            </a:r>
            <a:r>
              <a:rPr kumimoji="1" lang="ja-JP" altLang="en-US" sz="1200" dirty="0"/>
              <a:t>、</a:t>
            </a:r>
            <a:r>
              <a:rPr kumimoji="1" lang="en-US" altLang="ja-JP" sz="1200" dirty="0"/>
              <a:t>md</a:t>
            </a:r>
          </a:p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kumimoji="1" lang="en-US" altLang="ja-JP" sz="1200" dirty="0"/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9C5AB4B8-11FB-4869-A2DD-5BE2678EC211}"/>
              </a:ext>
            </a:extLst>
          </p:cNvPr>
          <p:cNvSpPr txBox="1"/>
          <p:nvPr/>
        </p:nvSpPr>
        <p:spPr>
          <a:xfrm>
            <a:off x="7221127" y="2795391"/>
            <a:ext cx="2417277" cy="776791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レビュー結果レポートの確認</a:t>
            </a:r>
            <a:endParaRPr lang="en-US" altLang="ja-JP" sz="1200" dirty="0"/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/>
              <a:t>ラベルの使用可否設定</a:t>
            </a:r>
            <a:endParaRPr kumimoji="1" lang="en-US" altLang="ja-JP" sz="1200" dirty="0"/>
          </a:p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チェック観点の</a:t>
            </a:r>
            <a:r>
              <a:rPr kumimoji="1" lang="ja-JP" altLang="en-US" sz="1200" dirty="0"/>
              <a:t>使用可否設定</a:t>
            </a:r>
            <a:endParaRPr kumimoji="1" lang="en-US" altLang="ja-JP" sz="1200" dirty="0"/>
          </a:p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kumimoji="1" lang="en-US" altLang="ja-JP" sz="1200" dirty="0"/>
          </a:p>
        </p:txBody>
      </p:sp>
      <p:sp>
        <p:nvSpPr>
          <p:cNvPr id="100" name="四角形: 角を丸くする 99">
            <a:extLst>
              <a:ext uri="{FF2B5EF4-FFF2-40B4-BE49-F238E27FC236}">
                <a16:creationId xmlns:a16="http://schemas.microsoft.com/office/drawing/2014/main" id="{6465DBA7-5100-4702-946A-8A2F627AD9CC}"/>
              </a:ext>
            </a:extLst>
          </p:cNvPr>
          <p:cNvSpPr/>
          <p:nvPr/>
        </p:nvSpPr>
        <p:spPr>
          <a:xfrm>
            <a:off x="5827255" y="1898728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設計書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アップロード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103" name="Graphic 16" descr="Document resource icon for the General Icons category.">
            <a:extLst>
              <a:ext uri="{FF2B5EF4-FFF2-40B4-BE49-F238E27FC236}">
                <a16:creationId xmlns:a16="http://schemas.microsoft.com/office/drawing/2014/main" id="{E3380451-E619-4308-98C5-99538C9FAFE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4268514" y="1808936"/>
            <a:ext cx="789276" cy="78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EC79C166-E8BF-4CF1-A858-18CB06D7F90E}"/>
              </a:ext>
            </a:extLst>
          </p:cNvPr>
          <p:cNvCxnSpPr>
            <a:cxnSpLocks/>
          </p:cNvCxnSpPr>
          <p:nvPr/>
        </p:nvCxnSpPr>
        <p:spPr>
          <a:xfrm flipH="1">
            <a:off x="5140716" y="2160743"/>
            <a:ext cx="706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7AFC825C-A5FE-4AFF-B918-5BA38CD896BF}"/>
              </a:ext>
            </a:extLst>
          </p:cNvPr>
          <p:cNvSpPr txBox="1"/>
          <p:nvPr/>
        </p:nvSpPr>
        <p:spPr>
          <a:xfrm>
            <a:off x="4066279" y="2643868"/>
            <a:ext cx="1315448" cy="830997"/>
          </a:xfrm>
          <a:prstGeom prst="rect">
            <a:avLst/>
          </a:prstGeom>
          <a:solidFill>
            <a:srgbClr val="E7F5FF"/>
          </a:solidFill>
        </p:spPr>
        <p:txBody>
          <a:bodyPr wrap="square">
            <a:spAutoFit/>
          </a:bodyPr>
          <a:lstStyle/>
          <a:p>
            <a:r>
              <a:rPr kumimoji="1" lang="en-US" altLang="ja-JP" sz="1200" b="1" dirty="0">
                <a:latin typeface="+mn-ea"/>
              </a:rPr>
              <a:t>AI</a:t>
            </a:r>
            <a:r>
              <a:rPr kumimoji="1" lang="ja-JP" altLang="en-US" sz="1200" b="1" dirty="0">
                <a:latin typeface="+mn-ea"/>
              </a:rPr>
              <a:t>がチェック観点を選択し、</a:t>
            </a:r>
            <a:r>
              <a:rPr lang="ja-JP" altLang="en-US" sz="1200" b="1" dirty="0">
                <a:latin typeface="+mn-ea"/>
              </a:rPr>
              <a:t>レビューを実施、</a:t>
            </a:r>
            <a:endParaRPr lang="en-US" altLang="ja-JP" sz="1200" b="1" dirty="0">
              <a:latin typeface="+mn-ea"/>
            </a:endParaRPr>
          </a:p>
          <a:p>
            <a:r>
              <a:rPr lang="ja-JP" altLang="en-US" sz="1200" b="1" dirty="0">
                <a:latin typeface="+mn-ea"/>
              </a:rPr>
              <a:t>レポート提示</a:t>
            </a:r>
          </a:p>
        </p:txBody>
      </p:sp>
      <p:cxnSp>
        <p:nvCxnSpPr>
          <p:cNvPr id="107" name="コネクタ: カギ線 106">
            <a:extLst>
              <a:ext uri="{FF2B5EF4-FFF2-40B4-BE49-F238E27FC236}">
                <a16:creationId xmlns:a16="http://schemas.microsoft.com/office/drawing/2014/main" id="{5E369EFD-D6F5-439A-90BF-08FAAB97ABE7}"/>
              </a:ext>
            </a:extLst>
          </p:cNvPr>
          <p:cNvCxnSpPr>
            <a:cxnSpLocks/>
          </p:cNvCxnSpPr>
          <p:nvPr/>
        </p:nvCxnSpPr>
        <p:spPr>
          <a:xfrm>
            <a:off x="3553969" y="2808379"/>
            <a:ext cx="510577" cy="30236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コネクタ: カギ線 107">
            <a:extLst>
              <a:ext uri="{FF2B5EF4-FFF2-40B4-BE49-F238E27FC236}">
                <a16:creationId xmlns:a16="http://schemas.microsoft.com/office/drawing/2014/main" id="{7F05630A-F58D-4013-8068-8AE3A13F1BDF}"/>
              </a:ext>
            </a:extLst>
          </p:cNvPr>
          <p:cNvCxnSpPr>
            <a:cxnSpLocks/>
          </p:cNvCxnSpPr>
          <p:nvPr/>
        </p:nvCxnSpPr>
        <p:spPr>
          <a:xfrm flipV="1">
            <a:off x="3489971" y="3110739"/>
            <a:ext cx="574575" cy="2169216"/>
          </a:xfrm>
          <a:prstGeom prst="bentConnector3">
            <a:avLst>
              <a:gd name="adj1" fmla="val 56366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四角形: 角を丸くする 111">
            <a:extLst>
              <a:ext uri="{FF2B5EF4-FFF2-40B4-BE49-F238E27FC236}">
                <a16:creationId xmlns:a16="http://schemas.microsoft.com/office/drawing/2014/main" id="{0251CAE2-7D5F-4E34-A79B-EE68AE459737}"/>
              </a:ext>
            </a:extLst>
          </p:cNvPr>
          <p:cNvSpPr/>
          <p:nvPr/>
        </p:nvSpPr>
        <p:spPr>
          <a:xfrm>
            <a:off x="5847160" y="2812801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レビュー結果</a:t>
            </a:r>
            <a:endParaRPr kumimoji="0" lang="en-US" altLang="ja-JP" sz="1200" b="1" kern="0" dirty="0">
              <a:latin typeface="游ゴシック" panose="020F0502020204030204"/>
              <a:ea typeface="游ゴシック" panose="020B0400000000000000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レポート</a:t>
            </a:r>
            <a:endParaRPr kumimoji="0" lang="en-US" altLang="ja-JP" sz="1200" b="1" kern="0" dirty="0">
              <a:latin typeface="游ゴシック" panose="020F0502020204030204"/>
              <a:ea typeface="游ゴシック" panose="020B0400000000000000" pitchFamily="50" charset="-128"/>
            </a:endParaRPr>
          </a:p>
        </p:txBody>
      </p: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4F254EE-B32A-4C0C-9D82-3F2DA342040E}"/>
              </a:ext>
            </a:extLst>
          </p:cNvPr>
          <p:cNvCxnSpPr>
            <a:cxnSpLocks/>
            <a:endCxn id="112" idx="1"/>
          </p:cNvCxnSpPr>
          <p:nvPr/>
        </p:nvCxnSpPr>
        <p:spPr>
          <a:xfrm>
            <a:off x="5259658" y="3064801"/>
            <a:ext cx="5875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四角形: 角を丸くする 113">
            <a:extLst>
              <a:ext uri="{FF2B5EF4-FFF2-40B4-BE49-F238E27FC236}">
                <a16:creationId xmlns:a16="http://schemas.microsoft.com/office/drawing/2014/main" id="{C8C73E91-070A-485C-BA75-A74CEC7CD593}"/>
              </a:ext>
            </a:extLst>
          </p:cNvPr>
          <p:cNvSpPr/>
          <p:nvPr/>
        </p:nvSpPr>
        <p:spPr>
          <a:xfrm>
            <a:off x="5837386" y="3793327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修正後設計書</a:t>
            </a:r>
            <a:endParaRPr kumimoji="0" lang="en-US" altLang="ja-JP" sz="1200" b="1" kern="0" dirty="0">
              <a:latin typeface="游ゴシック" panose="020F0502020204030204"/>
              <a:ea typeface="游ゴシック" panose="020B0400000000000000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再アップロード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pic>
        <p:nvPicPr>
          <p:cNvPr id="115" name="Graphic 16" descr="Document resource icon for the General Icons category.">
            <a:extLst>
              <a:ext uri="{FF2B5EF4-FFF2-40B4-BE49-F238E27FC236}">
                <a16:creationId xmlns:a16="http://schemas.microsoft.com/office/drawing/2014/main" id="{BF381A97-BC58-4C2E-955B-FFC813F8966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4296151" y="3521554"/>
            <a:ext cx="789276" cy="78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" name="テキスト ボックス 115">
            <a:extLst>
              <a:ext uri="{FF2B5EF4-FFF2-40B4-BE49-F238E27FC236}">
                <a16:creationId xmlns:a16="http://schemas.microsoft.com/office/drawing/2014/main" id="{70317CF8-6BAD-479B-878E-E6832806F272}"/>
              </a:ext>
            </a:extLst>
          </p:cNvPr>
          <p:cNvSpPr txBox="1"/>
          <p:nvPr/>
        </p:nvSpPr>
        <p:spPr>
          <a:xfrm>
            <a:off x="4046385" y="4324363"/>
            <a:ext cx="1315448" cy="830997"/>
          </a:xfrm>
          <a:prstGeom prst="rect">
            <a:avLst/>
          </a:prstGeom>
          <a:solidFill>
            <a:srgbClr val="E7F5FF"/>
          </a:solidFill>
        </p:spPr>
        <p:txBody>
          <a:bodyPr wrap="square">
            <a:spAutoFit/>
          </a:bodyPr>
          <a:lstStyle/>
          <a:p>
            <a:r>
              <a:rPr kumimoji="1" lang="en-US" altLang="ja-JP" sz="1200" b="1" dirty="0">
                <a:latin typeface="+mn-ea"/>
              </a:rPr>
              <a:t>AI</a:t>
            </a:r>
            <a:r>
              <a:rPr kumimoji="1" lang="ja-JP" altLang="en-US" sz="1200" b="1" dirty="0">
                <a:latin typeface="+mn-ea"/>
              </a:rPr>
              <a:t>が修正できているかどうかを確認し、レポート提示</a:t>
            </a:r>
            <a:endParaRPr lang="ja-JP" altLang="en-US" sz="1200" b="1" dirty="0">
              <a:latin typeface="+mn-ea"/>
            </a:endParaRPr>
          </a:p>
        </p:txBody>
      </p: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45365632-A9A5-4F7D-8536-7489CF82B682}"/>
              </a:ext>
            </a:extLst>
          </p:cNvPr>
          <p:cNvCxnSpPr>
            <a:cxnSpLocks/>
          </p:cNvCxnSpPr>
          <p:nvPr/>
        </p:nvCxnSpPr>
        <p:spPr>
          <a:xfrm flipH="1">
            <a:off x="5125781" y="4055339"/>
            <a:ext cx="706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四角形: 角を丸くする 117">
            <a:extLst>
              <a:ext uri="{FF2B5EF4-FFF2-40B4-BE49-F238E27FC236}">
                <a16:creationId xmlns:a16="http://schemas.microsoft.com/office/drawing/2014/main" id="{54E22050-5166-49A8-AE9A-4B6E20529E77}"/>
              </a:ext>
            </a:extLst>
          </p:cNvPr>
          <p:cNvSpPr/>
          <p:nvPr/>
        </p:nvSpPr>
        <p:spPr>
          <a:xfrm>
            <a:off x="5827255" y="4465358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修正確認結果</a:t>
            </a:r>
            <a:endParaRPr kumimoji="0" lang="en-US" altLang="ja-JP" sz="1200" b="1" kern="0" dirty="0">
              <a:latin typeface="游ゴシック" panose="020F0502020204030204"/>
              <a:ea typeface="游ゴシック" panose="020B0400000000000000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レポート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cxnSp>
        <p:nvCxnSpPr>
          <p:cNvPr id="119" name="直線矢印コネクタ 118">
            <a:extLst>
              <a:ext uri="{FF2B5EF4-FFF2-40B4-BE49-F238E27FC236}">
                <a16:creationId xmlns:a16="http://schemas.microsoft.com/office/drawing/2014/main" id="{B9D67A38-2A36-4215-9295-AADEE7784DD3}"/>
              </a:ext>
            </a:extLst>
          </p:cNvPr>
          <p:cNvCxnSpPr>
            <a:cxnSpLocks/>
            <a:endCxn id="118" idx="1"/>
          </p:cNvCxnSpPr>
          <p:nvPr/>
        </p:nvCxnSpPr>
        <p:spPr>
          <a:xfrm>
            <a:off x="5239753" y="4717358"/>
            <a:ext cx="5875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グラフィックス 119">
            <a:extLst>
              <a:ext uri="{FF2B5EF4-FFF2-40B4-BE49-F238E27FC236}">
                <a16:creationId xmlns:a16="http://schemas.microsoft.com/office/drawing/2014/main" id="{C49017C8-66DF-48C8-B78F-C4F351E360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34063" y="2280726"/>
            <a:ext cx="354665" cy="377211"/>
          </a:xfrm>
          <a:prstGeom prst="rect">
            <a:avLst/>
          </a:prstGeom>
        </p:spPr>
      </p:pic>
      <p:pic>
        <p:nvPicPr>
          <p:cNvPr id="121" name="グラフィックス 120">
            <a:extLst>
              <a:ext uri="{FF2B5EF4-FFF2-40B4-BE49-F238E27FC236}">
                <a16:creationId xmlns:a16="http://schemas.microsoft.com/office/drawing/2014/main" id="{1DEEE44D-9453-4A3F-A463-3BB9E26E6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9596" y="3982130"/>
            <a:ext cx="354665" cy="377211"/>
          </a:xfrm>
          <a:prstGeom prst="rect">
            <a:avLst/>
          </a:prstGeom>
        </p:spPr>
      </p:pic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0289274E-3D6A-405B-9092-0BFD8DA2BBAD}"/>
              </a:ext>
            </a:extLst>
          </p:cNvPr>
          <p:cNvSpPr txBox="1"/>
          <p:nvPr/>
        </p:nvSpPr>
        <p:spPr>
          <a:xfrm>
            <a:off x="7227359" y="3767687"/>
            <a:ext cx="2585594" cy="501871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レビュー結果を受けて修正した設計書</a:t>
            </a:r>
            <a:endParaRPr kumimoji="1" lang="en-US" altLang="ja-JP" sz="1200" dirty="0"/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02C42DEC-DB7F-4EB7-9020-A7EB68BD8A4D}"/>
              </a:ext>
            </a:extLst>
          </p:cNvPr>
          <p:cNvSpPr txBox="1"/>
          <p:nvPr/>
        </p:nvSpPr>
        <p:spPr>
          <a:xfrm>
            <a:off x="7181973" y="4436843"/>
            <a:ext cx="2417277" cy="337010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修正確認結果レポートの確認</a:t>
            </a:r>
            <a:endParaRPr kumimoji="1" lang="en-US" altLang="ja-JP" sz="1200" dirty="0"/>
          </a:p>
        </p:txBody>
      </p:sp>
      <p:sp>
        <p:nvSpPr>
          <p:cNvPr id="124" name="四角形: 角を丸くする 123">
            <a:extLst>
              <a:ext uri="{FF2B5EF4-FFF2-40B4-BE49-F238E27FC236}">
                <a16:creationId xmlns:a16="http://schemas.microsoft.com/office/drawing/2014/main" id="{0F5ED0E5-82A4-40BB-ABAD-726BA0112DAA}"/>
              </a:ext>
            </a:extLst>
          </p:cNvPr>
          <p:cNvSpPr/>
          <p:nvPr/>
        </p:nvSpPr>
        <p:spPr>
          <a:xfrm>
            <a:off x="5837386" y="5241498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複数設計書</a:t>
            </a: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アップロード＋観点選択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7C80ADAA-0655-499F-9030-9C04871C0520}"/>
              </a:ext>
            </a:extLst>
          </p:cNvPr>
          <p:cNvSpPr txBox="1"/>
          <p:nvPr/>
        </p:nvSpPr>
        <p:spPr>
          <a:xfrm>
            <a:off x="3491704" y="5772534"/>
            <a:ext cx="1870129" cy="646331"/>
          </a:xfrm>
          <a:prstGeom prst="rect">
            <a:avLst/>
          </a:prstGeom>
          <a:solidFill>
            <a:srgbClr val="E7F5FF"/>
          </a:solidFill>
        </p:spPr>
        <p:txBody>
          <a:bodyPr wrap="square">
            <a:spAutoFit/>
          </a:bodyPr>
          <a:lstStyle/>
          <a:p>
            <a:r>
              <a:rPr kumimoji="1" lang="en-US" altLang="ja-JP" sz="1200" b="1" dirty="0">
                <a:latin typeface="+mn-ea"/>
              </a:rPr>
              <a:t>AI</a:t>
            </a:r>
            <a:r>
              <a:rPr kumimoji="1" lang="ja-JP" altLang="en-US" sz="1200" b="1" dirty="0">
                <a:latin typeface="+mn-ea"/>
              </a:rPr>
              <a:t>が複数設計書に対して同一観点でレビューを実施、レポート提示</a:t>
            </a:r>
            <a:endParaRPr lang="ja-JP" altLang="en-US" sz="1200" b="1" dirty="0">
              <a:latin typeface="+mn-ea"/>
            </a:endParaRPr>
          </a:p>
        </p:txBody>
      </p:sp>
      <p:cxnSp>
        <p:nvCxnSpPr>
          <p:cNvPr id="127" name="直線矢印コネクタ 126">
            <a:extLst>
              <a:ext uri="{FF2B5EF4-FFF2-40B4-BE49-F238E27FC236}">
                <a16:creationId xmlns:a16="http://schemas.microsoft.com/office/drawing/2014/main" id="{BF2A5A33-6737-4C6A-B7CD-AABAA4C44BA5}"/>
              </a:ext>
            </a:extLst>
          </p:cNvPr>
          <p:cNvCxnSpPr>
            <a:cxnSpLocks/>
          </p:cNvCxnSpPr>
          <p:nvPr/>
        </p:nvCxnSpPr>
        <p:spPr>
          <a:xfrm flipH="1">
            <a:off x="5125781" y="5503510"/>
            <a:ext cx="7064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四角形: 角を丸くする 127">
            <a:extLst>
              <a:ext uri="{FF2B5EF4-FFF2-40B4-BE49-F238E27FC236}">
                <a16:creationId xmlns:a16="http://schemas.microsoft.com/office/drawing/2014/main" id="{320CBDF0-2759-42C0-A57D-682BBB033818}"/>
              </a:ext>
            </a:extLst>
          </p:cNvPr>
          <p:cNvSpPr/>
          <p:nvPr/>
        </p:nvSpPr>
        <p:spPr>
          <a:xfrm>
            <a:off x="5827255" y="5913529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水平レビュー結果</a:t>
            </a:r>
            <a:endParaRPr kumimoji="0" lang="en-US" altLang="ja-JP" sz="1200" b="1" kern="0" dirty="0">
              <a:latin typeface="游ゴシック" panose="020F0502020204030204"/>
              <a:ea typeface="游ゴシック" panose="020B0400000000000000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レポート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ACD54556-DE0C-4E6A-AC80-C039730A1216}"/>
              </a:ext>
            </a:extLst>
          </p:cNvPr>
          <p:cNvCxnSpPr>
            <a:cxnSpLocks/>
          </p:cNvCxnSpPr>
          <p:nvPr/>
        </p:nvCxnSpPr>
        <p:spPr>
          <a:xfrm>
            <a:off x="5249884" y="6176693"/>
            <a:ext cx="5875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" name="グラフィックス 130">
            <a:extLst>
              <a:ext uri="{FF2B5EF4-FFF2-40B4-BE49-F238E27FC236}">
                <a16:creationId xmlns:a16="http://schemas.microsoft.com/office/drawing/2014/main" id="{8043E148-BEAF-4BB1-9527-612095BEFA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3383" y="6176693"/>
            <a:ext cx="354665" cy="377211"/>
          </a:xfrm>
          <a:prstGeom prst="rect">
            <a:avLst/>
          </a:prstGeom>
        </p:spPr>
      </p:pic>
      <p:sp>
        <p:nvSpPr>
          <p:cNvPr id="132" name="テキスト ボックス 131">
            <a:extLst>
              <a:ext uri="{FF2B5EF4-FFF2-40B4-BE49-F238E27FC236}">
                <a16:creationId xmlns:a16="http://schemas.microsoft.com/office/drawing/2014/main" id="{69BA4D22-4186-4519-BCDE-AFB6468FF17F}"/>
              </a:ext>
            </a:extLst>
          </p:cNvPr>
          <p:cNvSpPr txBox="1"/>
          <p:nvPr/>
        </p:nvSpPr>
        <p:spPr>
          <a:xfrm>
            <a:off x="7227359" y="5215858"/>
            <a:ext cx="2554808" cy="449682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ある観点について水平レビューを行いたい設計書群</a:t>
            </a:r>
            <a:endParaRPr kumimoji="1" lang="en-US" altLang="ja-JP" sz="1200" dirty="0"/>
          </a:p>
        </p:txBody>
      </p: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558819C0-0F61-49C7-B8B6-E001E49AFE6A}"/>
              </a:ext>
            </a:extLst>
          </p:cNvPr>
          <p:cNvSpPr txBox="1"/>
          <p:nvPr/>
        </p:nvSpPr>
        <p:spPr>
          <a:xfrm>
            <a:off x="7181972" y="5885014"/>
            <a:ext cx="2680485" cy="337010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/>
              <a:t>複数設計書に対する水平レビュー結果レポートの確認</a:t>
            </a:r>
            <a:endParaRPr kumimoji="1" lang="en-US" altLang="ja-JP" sz="1200" dirty="0"/>
          </a:p>
        </p:txBody>
      </p:sp>
      <p:pic>
        <p:nvPicPr>
          <p:cNvPr id="148" name="Graphic 16" descr="Document resource icon for the General Icons category.">
            <a:extLst>
              <a:ext uri="{FF2B5EF4-FFF2-40B4-BE49-F238E27FC236}">
                <a16:creationId xmlns:a16="http://schemas.microsoft.com/office/drawing/2014/main" id="{B4381EB4-644F-440B-AD8F-D2208B6F187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4260365" y="5189532"/>
            <a:ext cx="445491" cy="445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0" name="Graphic 16" descr="Document resource icon for the General Icons category.">
            <a:extLst>
              <a:ext uri="{FF2B5EF4-FFF2-40B4-BE49-F238E27FC236}">
                <a16:creationId xmlns:a16="http://schemas.microsoft.com/office/drawing/2014/main" id="{A4BFE097-7F01-4285-A8BA-FE524446EC3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4483110" y="5322682"/>
            <a:ext cx="445491" cy="445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Graphic 16" descr="Document resource icon for the General Icons category.">
            <a:extLst>
              <a:ext uri="{FF2B5EF4-FFF2-40B4-BE49-F238E27FC236}">
                <a16:creationId xmlns:a16="http://schemas.microsoft.com/office/drawing/2014/main" id="{319FC2B3-EF5B-46BE-9C07-60490A332EB8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4705855" y="5183679"/>
            <a:ext cx="445491" cy="445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2" name="四角形: 角を丸くする 151">
            <a:extLst>
              <a:ext uri="{FF2B5EF4-FFF2-40B4-BE49-F238E27FC236}">
                <a16:creationId xmlns:a16="http://schemas.microsoft.com/office/drawing/2014/main" id="{D0129FFC-A7D6-4B76-96E8-2EC3B9243869}"/>
              </a:ext>
            </a:extLst>
          </p:cNvPr>
          <p:cNvSpPr/>
          <p:nvPr/>
        </p:nvSpPr>
        <p:spPr>
          <a:xfrm>
            <a:off x="10131672" y="1889173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レビュー状況の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確認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54" name="四角形: 角を丸くする 153">
            <a:extLst>
              <a:ext uri="{FF2B5EF4-FFF2-40B4-BE49-F238E27FC236}">
                <a16:creationId xmlns:a16="http://schemas.microsoft.com/office/drawing/2014/main" id="{413F61E1-DC2B-4EF0-9AB8-72B1A157EFF2}"/>
              </a:ext>
            </a:extLst>
          </p:cNvPr>
          <p:cNvSpPr/>
          <p:nvPr/>
        </p:nvSpPr>
        <p:spPr>
          <a:xfrm>
            <a:off x="447995" y="5554004"/>
            <a:ext cx="1225994" cy="454713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kern="0" dirty="0">
                <a:latin typeface="游ゴシック" panose="020F0502020204030204"/>
                <a:ea typeface="游ゴシック" panose="020B0400000000000000" pitchFamily="50" charset="-128"/>
              </a:rPr>
              <a:t>設計書一覧登録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155" name="テキスト ボックス 154">
            <a:extLst>
              <a:ext uri="{FF2B5EF4-FFF2-40B4-BE49-F238E27FC236}">
                <a16:creationId xmlns:a16="http://schemas.microsoft.com/office/drawing/2014/main" id="{475E5D28-742F-4456-991A-A9A98049DB3D}"/>
              </a:ext>
            </a:extLst>
          </p:cNvPr>
          <p:cNvSpPr txBox="1"/>
          <p:nvPr/>
        </p:nvSpPr>
        <p:spPr>
          <a:xfrm>
            <a:off x="389687" y="6031022"/>
            <a:ext cx="1828404" cy="428652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altLang="ja-JP" sz="1200" dirty="0"/>
              <a:t>PJ</a:t>
            </a:r>
            <a:r>
              <a:rPr kumimoji="1" lang="ja-JP" altLang="en-US" sz="1200" dirty="0"/>
              <a:t>でレビュー対象となる設計書の一覧</a:t>
            </a:r>
            <a:endParaRPr kumimoji="1" lang="en-US" altLang="ja-JP" sz="1200" dirty="0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8938984A-4AEE-47EA-988E-91994BB58623}"/>
              </a:ext>
            </a:extLst>
          </p:cNvPr>
          <p:cNvSpPr txBox="1"/>
          <p:nvPr/>
        </p:nvSpPr>
        <p:spPr>
          <a:xfrm>
            <a:off x="9987664" y="2460382"/>
            <a:ext cx="2204335" cy="2576152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レビュー状況の確認</a:t>
            </a:r>
            <a:endParaRPr lang="en-US" altLang="ja-JP" sz="1200" dirty="0"/>
          </a:p>
          <a:p>
            <a:pPr>
              <a:spcBef>
                <a:spcPts val="400"/>
              </a:spcBef>
            </a:pPr>
            <a:r>
              <a:rPr lang="ja-JP" altLang="en-US" sz="1200" dirty="0"/>
              <a:t>＜</a:t>
            </a:r>
            <a:r>
              <a:rPr lang="en-US" altLang="ja-JP" sz="1200" dirty="0"/>
              <a:t>PJ</a:t>
            </a:r>
            <a:r>
              <a:rPr lang="ja-JP" altLang="en-US" sz="1200" dirty="0"/>
              <a:t>全体に対する項目＞</a:t>
            </a:r>
            <a:endParaRPr kumimoji="1"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ja-JP" altLang="en-US" sz="1200" dirty="0"/>
              <a:t>全期間での進捗</a:t>
            </a:r>
            <a:r>
              <a:rPr lang="ja-JP" altLang="en-US" sz="1200" dirty="0"/>
              <a:t>（％）</a:t>
            </a: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特定期間内での進捗（例：今週の実績）</a:t>
            </a:r>
            <a:endParaRPr lang="en-US" altLang="ja-JP" sz="1200" dirty="0"/>
          </a:p>
          <a:p>
            <a:pPr>
              <a:spcBef>
                <a:spcPts val="400"/>
              </a:spcBef>
            </a:pPr>
            <a:r>
              <a:rPr lang="ja-JP" altLang="en-US" sz="1200" dirty="0"/>
              <a:t>＜各設計書に対する項目＞</a:t>
            </a: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指摘件数</a:t>
            </a: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kumimoji="1" lang="en-US" altLang="ja-JP" sz="1200" dirty="0"/>
              <a:t>OK/NG</a:t>
            </a:r>
            <a:r>
              <a:rPr kumimoji="1" lang="ja-JP" altLang="en-US" sz="1200" dirty="0"/>
              <a:t>状況</a:t>
            </a:r>
            <a:endParaRPr kumimoji="1"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期限に対する遅れ</a:t>
            </a:r>
            <a:endParaRPr lang="en-US" altLang="ja-JP" sz="1200" dirty="0"/>
          </a:p>
          <a:p>
            <a:pPr>
              <a:spcBef>
                <a:spcPts val="400"/>
              </a:spcBef>
            </a:pPr>
            <a:r>
              <a:rPr lang="ja-JP" altLang="en-US" sz="1200" dirty="0"/>
              <a:t>＜各指摘観点に対する項目＞</a:t>
            </a: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指摘件数</a:t>
            </a:r>
            <a:endParaRPr lang="en-US" altLang="ja-JP" sz="1200" dirty="0"/>
          </a:p>
          <a:p>
            <a:pPr>
              <a:spcBef>
                <a:spcPts val="400"/>
              </a:spcBef>
            </a:pP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lang="en-US" altLang="ja-JP" sz="1200" dirty="0"/>
          </a:p>
          <a:p>
            <a:pPr marL="354013" lvl="1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kumimoji="1" lang="en-US" altLang="ja-JP" sz="1200" dirty="0"/>
          </a:p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endParaRPr kumimoji="1" lang="en-US" altLang="ja-JP" sz="1200" dirty="0"/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E6D8DA86-AEE8-420C-A149-3B0B1F4BCCF1}"/>
              </a:ext>
            </a:extLst>
          </p:cNvPr>
          <p:cNvSpPr/>
          <p:nvPr/>
        </p:nvSpPr>
        <p:spPr>
          <a:xfrm>
            <a:off x="10131672" y="5070682"/>
            <a:ext cx="1368000" cy="504000"/>
          </a:xfrm>
          <a:prstGeom prst="round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65000"/>
              </a:sysClr>
            </a:solidFill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レビュー管理の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1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t>設定</a:t>
            </a:r>
            <a:endParaRPr kumimoji="0" lang="en-US" altLang="ja-JP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1D243EDE-2E82-474B-A74B-86241B166982}"/>
              </a:ext>
            </a:extLst>
          </p:cNvPr>
          <p:cNvSpPr txBox="1"/>
          <p:nvPr/>
        </p:nvSpPr>
        <p:spPr>
          <a:xfrm>
            <a:off x="10010102" y="5593699"/>
            <a:ext cx="1839197" cy="930653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altLang="ja-JP" sz="1200" dirty="0"/>
              <a:t>PJ</a:t>
            </a:r>
            <a:r>
              <a:rPr lang="ja-JP" altLang="en-US" sz="1200" dirty="0"/>
              <a:t>全体の設計書作成期限設定</a:t>
            </a:r>
            <a:endParaRPr lang="en-US" altLang="ja-JP" sz="1200" dirty="0"/>
          </a:p>
          <a:p>
            <a:pPr marL="177800" indent="-17780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ja-JP" altLang="en-US" sz="1200" dirty="0"/>
              <a:t>各設計書の作成期限設定</a:t>
            </a:r>
            <a:endParaRPr lang="en-US" altLang="ja-JP" sz="1200" dirty="0"/>
          </a:p>
        </p:txBody>
      </p:sp>
      <p:sp>
        <p:nvSpPr>
          <p:cNvPr id="3" name="二等辺三角形 2">
            <a:extLst>
              <a:ext uri="{FF2B5EF4-FFF2-40B4-BE49-F238E27FC236}">
                <a16:creationId xmlns:a16="http://schemas.microsoft.com/office/drawing/2014/main" id="{0E19B7EA-352D-4288-A8A8-5CD2861A1B99}"/>
              </a:ext>
            </a:extLst>
          </p:cNvPr>
          <p:cNvSpPr/>
          <p:nvPr/>
        </p:nvSpPr>
        <p:spPr>
          <a:xfrm rot="16200000">
            <a:off x="8730851" y="3802919"/>
            <a:ext cx="2316789" cy="184588"/>
          </a:xfrm>
          <a:prstGeom prst="triangle">
            <a:avLst/>
          </a:prstGeom>
          <a:solidFill>
            <a:srgbClr val="3154A1"/>
          </a:solidFill>
          <a:ln>
            <a:solidFill>
              <a:srgbClr val="3154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100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1116473"/>
      </p:ext>
    </p:extLst>
  </p:cSld>
  <p:clrMapOvr>
    <a:masterClrMapping/>
  </p:clrMapOvr>
</p:sld>
</file>

<file path=ppt/theme/theme1.xml><?xml version="1.0" encoding="utf-8"?>
<a:theme xmlns:a="http://schemas.openxmlformats.org/drawingml/2006/main" name="JBD">
  <a:themeElements>
    <a:clrScheme name="デザインの設定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Segoe UI"/>
        <a:ea typeface="HGP創英角ｺﾞｼｯｸUB"/>
        <a:cs typeface=""/>
      </a:majorFont>
      <a:minorFont>
        <a:latin typeface="Segoe UI"/>
        <a:ea typeface="游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154A1"/>
        </a:solidFill>
        <a:ln>
          <a:solidFill>
            <a:srgbClr val="3154A1"/>
          </a:solidFill>
        </a:ln>
      </a:spPr>
      <a:bodyPr rtlCol="0" anchor="ctr"/>
      <a:lstStyle>
        <a:defPPr algn="ctr">
          <a:defRPr kumimoji="1" sz="1100" dirty="0">
            <a:latin typeface="游ゴシック" panose="020B0400000000000000" pitchFamily="50" charset="-128"/>
            <a:ea typeface="游ゴシック" panose="020B0400000000000000" pitchFamily="50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numCol="1" rtlCol="0">
        <a:noAutofit/>
      </a:bodyPr>
      <a:lstStyle>
        <a:defPPr>
          <a:spcBef>
            <a:spcPts val="400"/>
          </a:spcBef>
          <a:defRPr sz="1600" dirty="0" smtClean="0"/>
        </a:defPPr>
      </a:lstStyle>
    </a:txDef>
  </a:objectDefaults>
  <a:extraClrSchemeLst>
    <a:extraClrScheme>
      <a:clrScheme name="デザインの設定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デザインの設定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デザインの設定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JBD" id="{DFA033F4-1732-447C-9015-2A5C8AD76AC7}" vid="{052C3CF1-0B5B-4FA3-9A3B-5A50EB2D8169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JBD</Template>
  <TotalTime>2501</TotalTime>
  <Words>290</Words>
  <Application>Microsoft Office PowerPoint</Application>
  <PresentationFormat>ワイド画面</PresentationFormat>
  <Paragraphs>74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HGP創英角ｺﾞｼｯｸUB</vt:lpstr>
      <vt:lpstr>游ゴシック</vt:lpstr>
      <vt:lpstr>Arial</vt:lpstr>
      <vt:lpstr>Segoe UI</vt:lpstr>
      <vt:lpstr>Wingdings</vt:lpstr>
      <vt:lpstr>JBD</vt:lpstr>
      <vt:lpstr>２．事業アイデアの概要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砂盃 梨乃</dc:creator>
  <cp:lastModifiedBy>ryosuke kinoshita</cp:lastModifiedBy>
  <cp:revision>234</cp:revision>
  <dcterms:created xsi:type="dcterms:W3CDTF">2026-02-05T05:05:44Z</dcterms:created>
  <dcterms:modified xsi:type="dcterms:W3CDTF">2026-08-05T16:03:24Z</dcterms:modified>
</cp:coreProperties>
</file>